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0"/>
  </p:notesMasterIdLst>
  <p:sldIdLst>
    <p:sldId id="256" r:id="rId2"/>
    <p:sldId id="257" r:id="rId3"/>
    <p:sldId id="258" r:id="rId4"/>
    <p:sldId id="262" r:id="rId5"/>
    <p:sldId id="263" r:id="rId6"/>
    <p:sldId id="264" r:id="rId7"/>
    <p:sldId id="265" r:id="rId8"/>
    <p:sldId id="266" r:id="rId9"/>
    <p:sldId id="267" r:id="rId10"/>
    <p:sldId id="268" r:id="rId11"/>
    <p:sldId id="269" r:id="rId12"/>
    <p:sldId id="270" r:id="rId13"/>
    <p:sldId id="271" r:id="rId14"/>
    <p:sldId id="272" r:id="rId15"/>
    <p:sldId id="273" r:id="rId16"/>
    <p:sldId id="259" r:id="rId17"/>
    <p:sldId id="260" r:id="rId18"/>
    <p:sldId id="261"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1" roundtripDataSignature="AMtx7mihkRHNCoaswck6hg0JM2nf1RaEW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1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DO"/>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DO"/>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DO"/>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da83fdd6a8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5" name="Google Shape;95;g3da83fdd6a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DO"/>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47A49EB1-E867-B994-C544-ACA2C97A1C4D}"/>
            </a:ext>
          </a:extLst>
        </p:cNvPr>
        <p:cNvGrpSpPr/>
        <p:nvPr/>
      </p:nvGrpSpPr>
      <p:grpSpPr>
        <a:xfrm>
          <a:off x="0" y="0"/>
          <a:ext cx="0" cy="0"/>
          <a:chOff x="0" y="0"/>
          <a:chExt cx="0" cy="0"/>
        </a:xfrm>
      </p:grpSpPr>
      <p:sp>
        <p:nvSpPr>
          <p:cNvPr id="94" name="Google Shape;94;g3da83fdd6a8_0_0:notes">
            <a:extLst>
              <a:ext uri="{FF2B5EF4-FFF2-40B4-BE49-F238E27FC236}">
                <a16:creationId xmlns:a16="http://schemas.microsoft.com/office/drawing/2014/main" id="{F11B4680-62F4-AE27-2267-D2D85C3CDF1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5" name="Google Shape;95;g3da83fdd6a8_0_0:notes">
            <a:extLst>
              <a:ext uri="{FF2B5EF4-FFF2-40B4-BE49-F238E27FC236}">
                <a16:creationId xmlns:a16="http://schemas.microsoft.com/office/drawing/2014/main" id="{C79846D9-D2CE-4B5A-0116-8F881E6317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DO"/>
          </a:p>
        </p:txBody>
      </p:sp>
    </p:spTree>
    <p:extLst>
      <p:ext uri="{BB962C8B-B14F-4D97-AF65-F5344CB8AC3E}">
        <p14:creationId xmlns:p14="http://schemas.microsoft.com/office/powerpoint/2010/main" val="10410495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35A1B9EC-A422-2908-FCB3-7B3152156809}"/>
            </a:ext>
          </a:extLst>
        </p:cNvPr>
        <p:cNvGrpSpPr/>
        <p:nvPr/>
      </p:nvGrpSpPr>
      <p:grpSpPr>
        <a:xfrm>
          <a:off x="0" y="0"/>
          <a:ext cx="0" cy="0"/>
          <a:chOff x="0" y="0"/>
          <a:chExt cx="0" cy="0"/>
        </a:xfrm>
      </p:grpSpPr>
      <p:sp>
        <p:nvSpPr>
          <p:cNvPr id="94" name="Google Shape;94;g3da83fdd6a8_0_0:notes">
            <a:extLst>
              <a:ext uri="{FF2B5EF4-FFF2-40B4-BE49-F238E27FC236}">
                <a16:creationId xmlns:a16="http://schemas.microsoft.com/office/drawing/2014/main" id="{158B44C4-9F24-DAB6-6787-3830625EE2A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5" name="Google Shape;95;g3da83fdd6a8_0_0:notes">
            <a:extLst>
              <a:ext uri="{FF2B5EF4-FFF2-40B4-BE49-F238E27FC236}">
                <a16:creationId xmlns:a16="http://schemas.microsoft.com/office/drawing/2014/main" id="{385A0271-2411-3DC1-D803-FD6A54E085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DO"/>
          </a:p>
        </p:txBody>
      </p:sp>
    </p:spTree>
    <p:extLst>
      <p:ext uri="{BB962C8B-B14F-4D97-AF65-F5344CB8AC3E}">
        <p14:creationId xmlns:p14="http://schemas.microsoft.com/office/powerpoint/2010/main" val="19414741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9257B9FE-568F-DE87-3A0B-D8488EFE0531}"/>
            </a:ext>
          </a:extLst>
        </p:cNvPr>
        <p:cNvGrpSpPr/>
        <p:nvPr/>
      </p:nvGrpSpPr>
      <p:grpSpPr>
        <a:xfrm>
          <a:off x="0" y="0"/>
          <a:ext cx="0" cy="0"/>
          <a:chOff x="0" y="0"/>
          <a:chExt cx="0" cy="0"/>
        </a:xfrm>
      </p:grpSpPr>
      <p:sp>
        <p:nvSpPr>
          <p:cNvPr id="94" name="Google Shape;94;g3da83fdd6a8_0_0:notes">
            <a:extLst>
              <a:ext uri="{FF2B5EF4-FFF2-40B4-BE49-F238E27FC236}">
                <a16:creationId xmlns:a16="http://schemas.microsoft.com/office/drawing/2014/main" id="{E2CCE105-BF4C-6B93-6561-397A022CAB3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5" name="Google Shape;95;g3da83fdd6a8_0_0:notes">
            <a:extLst>
              <a:ext uri="{FF2B5EF4-FFF2-40B4-BE49-F238E27FC236}">
                <a16:creationId xmlns:a16="http://schemas.microsoft.com/office/drawing/2014/main" id="{5BDCD5C1-D8A3-C6FE-65D6-551ED90304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DO"/>
          </a:p>
        </p:txBody>
      </p:sp>
    </p:spTree>
    <p:extLst>
      <p:ext uri="{BB962C8B-B14F-4D97-AF65-F5344CB8AC3E}">
        <p14:creationId xmlns:p14="http://schemas.microsoft.com/office/powerpoint/2010/main" val="22314446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0F367CB2-2545-1AA3-E361-23E2600243CF}"/>
            </a:ext>
          </a:extLst>
        </p:cNvPr>
        <p:cNvGrpSpPr/>
        <p:nvPr/>
      </p:nvGrpSpPr>
      <p:grpSpPr>
        <a:xfrm>
          <a:off x="0" y="0"/>
          <a:ext cx="0" cy="0"/>
          <a:chOff x="0" y="0"/>
          <a:chExt cx="0" cy="0"/>
        </a:xfrm>
      </p:grpSpPr>
      <p:sp>
        <p:nvSpPr>
          <p:cNvPr id="94" name="Google Shape;94;g3da83fdd6a8_0_0:notes">
            <a:extLst>
              <a:ext uri="{FF2B5EF4-FFF2-40B4-BE49-F238E27FC236}">
                <a16:creationId xmlns:a16="http://schemas.microsoft.com/office/drawing/2014/main" id="{2E933BA3-A822-B37C-EFEC-1635C0E4809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5" name="Google Shape;95;g3da83fdd6a8_0_0:notes">
            <a:extLst>
              <a:ext uri="{FF2B5EF4-FFF2-40B4-BE49-F238E27FC236}">
                <a16:creationId xmlns:a16="http://schemas.microsoft.com/office/drawing/2014/main" id="{39DD51A7-03CD-5A1C-0731-83020BDE4E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DO"/>
          </a:p>
        </p:txBody>
      </p:sp>
    </p:spTree>
    <p:extLst>
      <p:ext uri="{BB962C8B-B14F-4D97-AF65-F5344CB8AC3E}">
        <p14:creationId xmlns:p14="http://schemas.microsoft.com/office/powerpoint/2010/main" val="10170632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27F23EEE-3173-A786-EA0E-B76DEC3CD3DF}"/>
            </a:ext>
          </a:extLst>
        </p:cNvPr>
        <p:cNvGrpSpPr/>
        <p:nvPr/>
      </p:nvGrpSpPr>
      <p:grpSpPr>
        <a:xfrm>
          <a:off x="0" y="0"/>
          <a:ext cx="0" cy="0"/>
          <a:chOff x="0" y="0"/>
          <a:chExt cx="0" cy="0"/>
        </a:xfrm>
      </p:grpSpPr>
      <p:sp>
        <p:nvSpPr>
          <p:cNvPr id="94" name="Google Shape;94;g3da83fdd6a8_0_0:notes">
            <a:extLst>
              <a:ext uri="{FF2B5EF4-FFF2-40B4-BE49-F238E27FC236}">
                <a16:creationId xmlns:a16="http://schemas.microsoft.com/office/drawing/2014/main" id="{0A9AA335-A465-62A6-1CF9-FD4451DE7CE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5" name="Google Shape;95;g3da83fdd6a8_0_0:notes">
            <a:extLst>
              <a:ext uri="{FF2B5EF4-FFF2-40B4-BE49-F238E27FC236}">
                <a16:creationId xmlns:a16="http://schemas.microsoft.com/office/drawing/2014/main" id="{B97B432A-5313-3565-8F0D-9699906499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DO"/>
          </a:p>
        </p:txBody>
      </p:sp>
    </p:spTree>
    <p:extLst>
      <p:ext uri="{BB962C8B-B14F-4D97-AF65-F5344CB8AC3E}">
        <p14:creationId xmlns:p14="http://schemas.microsoft.com/office/powerpoint/2010/main" val="7066493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F1FA7C20-BE96-AC73-4A9D-9B5E2937D18B}"/>
            </a:ext>
          </a:extLst>
        </p:cNvPr>
        <p:cNvGrpSpPr/>
        <p:nvPr/>
      </p:nvGrpSpPr>
      <p:grpSpPr>
        <a:xfrm>
          <a:off x="0" y="0"/>
          <a:ext cx="0" cy="0"/>
          <a:chOff x="0" y="0"/>
          <a:chExt cx="0" cy="0"/>
        </a:xfrm>
      </p:grpSpPr>
      <p:sp>
        <p:nvSpPr>
          <p:cNvPr id="94" name="Google Shape;94;g3da83fdd6a8_0_0:notes">
            <a:extLst>
              <a:ext uri="{FF2B5EF4-FFF2-40B4-BE49-F238E27FC236}">
                <a16:creationId xmlns:a16="http://schemas.microsoft.com/office/drawing/2014/main" id="{30FB942E-E086-2E23-0EA1-C8D170DEAE1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5" name="Google Shape;95;g3da83fdd6a8_0_0:notes">
            <a:extLst>
              <a:ext uri="{FF2B5EF4-FFF2-40B4-BE49-F238E27FC236}">
                <a16:creationId xmlns:a16="http://schemas.microsoft.com/office/drawing/2014/main" id="{BAE7A9CB-0FDF-A082-8DDE-2BF40837C8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DO"/>
          </a:p>
        </p:txBody>
      </p:sp>
    </p:spTree>
    <p:extLst>
      <p:ext uri="{BB962C8B-B14F-4D97-AF65-F5344CB8AC3E}">
        <p14:creationId xmlns:p14="http://schemas.microsoft.com/office/powerpoint/2010/main" val="21657618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CA38FDC9-23B1-01AB-0BB2-EFA903392A52}"/>
            </a:ext>
          </a:extLst>
        </p:cNvPr>
        <p:cNvGrpSpPr/>
        <p:nvPr/>
      </p:nvGrpSpPr>
      <p:grpSpPr>
        <a:xfrm>
          <a:off x="0" y="0"/>
          <a:ext cx="0" cy="0"/>
          <a:chOff x="0" y="0"/>
          <a:chExt cx="0" cy="0"/>
        </a:xfrm>
      </p:grpSpPr>
      <p:sp>
        <p:nvSpPr>
          <p:cNvPr id="94" name="Google Shape;94;g3da83fdd6a8_0_0:notes">
            <a:extLst>
              <a:ext uri="{FF2B5EF4-FFF2-40B4-BE49-F238E27FC236}">
                <a16:creationId xmlns:a16="http://schemas.microsoft.com/office/drawing/2014/main" id="{FD417BF2-441E-307F-13EC-46F36BC9D77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5" name="Google Shape;95;g3da83fdd6a8_0_0:notes">
            <a:extLst>
              <a:ext uri="{FF2B5EF4-FFF2-40B4-BE49-F238E27FC236}">
                <a16:creationId xmlns:a16="http://schemas.microsoft.com/office/drawing/2014/main" id="{2433EFAA-C3D1-49CC-5838-58B892AE21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DO"/>
          </a:p>
        </p:txBody>
      </p:sp>
    </p:spTree>
    <p:extLst>
      <p:ext uri="{BB962C8B-B14F-4D97-AF65-F5344CB8AC3E}">
        <p14:creationId xmlns:p14="http://schemas.microsoft.com/office/powerpoint/2010/main" val="28699474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A36025C6-0778-65F7-090D-440F2EF99A8D}"/>
            </a:ext>
          </a:extLst>
        </p:cNvPr>
        <p:cNvGrpSpPr/>
        <p:nvPr/>
      </p:nvGrpSpPr>
      <p:grpSpPr>
        <a:xfrm>
          <a:off x="0" y="0"/>
          <a:ext cx="0" cy="0"/>
          <a:chOff x="0" y="0"/>
          <a:chExt cx="0" cy="0"/>
        </a:xfrm>
      </p:grpSpPr>
      <p:sp>
        <p:nvSpPr>
          <p:cNvPr id="94" name="Google Shape;94;g3da83fdd6a8_0_0:notes">
            <a:extLst>
              <a:ext uri="{FF2B5EF4-FFF2-40B4-BE49-F238E27FC236}">
                <a16:creationId xmlns:a16="http://schemas.microsoft.com/office/drawing/2014/main" id="{7C1982F9-2C20-09FB-BBBC-63D95FDAC57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5" name="Google Shape;95;g3da83fdd6a8_0_0:notes">
            <a:extLst>
              <a:ext uri="{FF2B5EF4-FFF2-40B4-BE49-F238E27FC236}">
                <a16:creationId xmlns:a16="http://schemas.microsoft.com/office/drawing/2014/main" id="{1BB5F978-2AAD-26D3-DAF4-EFEDC689FF3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DO"/>
          </a:p>
        </p:txBody>
      </p:sp>
    </p:spTree>
    <p:extLst>
      <p:ext uri="{BB962C8B-B14F-4D97-AF65-F5344CB8AC3E}">
        <p14:creationId xmlns:p14="http://schemas.microsoft.com/office/powerpoint/2010/main" val="13508155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FD5FFE34-7F56-1109-B7CF-7C46EBE523D4}"/>
            </a:ext>
          </a:extLst>
        </p:cNvPr>
        <p:cNvGrpSpPr/>
        <p:nvPr/>
      </p:nvGrpSpPr>
      <p:grpSpPr>
        <a:xfrm>
          <a:off x="0" y="0"/>
          <a:ext cx="0" cy="0"/>
          <a:chOff x="0" y="0"/>
          <a:chExt cx="0" cy="0"/>
        </a:xfrm>
      </p:grpSpPr>
      <p:sp>
        <p:nvSpPr>
          <p:cNvPr id="94" name="Google Shape;94;g3da83fdd6a8_0_0:notes">
            <a:extLst>
              <a:ext uri="{FF2B5EF4-FFF2-40B4-BE49-F238E27FC236}">
                <a16:creationId xmlns:a16="http://schemas.microsoft.com/office/drawing/2014/main" id="{73A5C91D-6033-3226-DD38-743429D11AD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5" name="Google Shape;95;g3da83fdd6a8_0_0:notes">
            <a:extLst>
              <a:ext uri="{FF2B5EF4-FFF2-40B4-BE49-F238E27FC236}">
                <a16:creationId xmlns:a16="http://schemas.microsoft.com/office/drawing/2014/main" id="{9CF35E47-DFCB-3106-CB42-BFD7001B93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DO"/>
          </a:p>
        </p:txBody>
      </p:sp>
    </p:spTree>
    <p:extLst>
      <p:ext uri="{BB962C8B-B14F-4D97-AF65-F5344CB8AC3E}">
        <p14:creationId xmlns:p14="http://schemas.microsoft.com/office/powerpoint/2010/main" val="9780385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EC1D67A5-E9F5-3BF2-CF18-3407F649CCBB}"/>
            </a:ext>
          </a:extLst>
        </p:cNvPr>
        <p:cNvGrpSpPr/>
        <p:nvPr/>
      </p:nvGrpSpPr>
      <p:grpSpPr>
        <a:xfrm>
          <a:off x="0" y="0"/>
          <a:ext cx="0" cy="0"/>
          <a:chOff x="0" y="0"/>
          <a:chExt cx="0" cy="0"/>
        </a:xfrm>
      </p:grpSpPr>
      <p:sp>
        <p:nvSpPr>
          <p:cNvPr id="94" name="Google Shape;94;g3da83fdd6a8_0_0:notes">
            <a:extLst>
              <a:ext uri="{FF2B5EF4-FFF2-40B4-BE49-F238E27FC236}">
                <a16:creationId xmlns:a16="http://schemas.microsoft.com/office/drawing/2014/main" id="{60E78AE8-9CF1-CC12-33D7-BE2760A519C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5" name="Google Shape;95;g3da83fdd6a8_0_0:notes">
            <a:extLst>
              <a:ext uri="{FF2B5EF4-FFF2-40B4-BE49-F238E27FC236}">
                <a16:creationId xmlns:a16="http://schemas.microsoft.com/office/drawing/2014/main" id="{DA85AB56-5CA5-9F76-64CA-14C64604D33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DO"/>
          </a:p>
        </p:txBody>
      </p:sp>
    </p:spTree>
    <p:extLst>
      <p:ext uri="{BB962C8B-B14F-4D97-AF65-F5344CB8AC3E}">
        <p14:creationId xmlns:p14="http://schemas.microsoft.com/office/powerpoint/2010/main" val="1307114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F43A01FD-12DE-80F7-3DBE-8D329C96494F}"/>
            </a:ext>
          </a:extLst>
        </p:cNvPr>
        <p:cNvGrpSpPr/>
        <p:nvPr/>
      </p:nvGrpSpPr>
      <p:grpSpPr>
        <a:xfrm>
          <a:off x="0" y="0"/>
          <a:ext cx="0" cy="0"/>
          <a:chOff x="0" y="0"/>
          <a:chExt cx="0" cy="0"/>
        </a:xfrm>
      </p:grpSpPr>
      <p:sp>
        <p:nvSpPr>
          <p:cNvPr id="94" name="Google Shape;94;g3da83fdd6a8_0_0:notes">
            <a:extLst>
              <a:ext uri="{FF2B5EF4-FFF2-40B4-BE49-F238E27FC236}">
                <a16:creationId xmlns:a16="http://schemas.microsoft.com/office/drawing/2014/main" id="{7BFABD83-E1D4-11CA-2934-250EAD62DCE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5" name="Google Shape;95;g3da83fdd6a8_0_0:notes">
            <a:extLst>
              <a:ext uri="{FF2B5EF4-FFF2-40B4-BE49-F238E27FC236}">
                <a16:creationId xmlns:a16="http://schemas.microsoft.com/office/drawing/2014/main" id="{2FC9909E-CE3F-487D-484B-8C367A2FDA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DO"/>
          </a:p>
        </p:txBody>
      </p:sp>
    </p:spTree>
    <p:extLst>
      <p:ext uri="{BB962C8B-B14F-4D97-AF65-F5344CB8AC3E}">
        <p14:creationId xmlns:p14="http://schemas.microsoft.com/office/powerpoint/2010/main" val="2363280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3FF88482-0AF5-F7A4-7257-6C0F038EE2A6}"/>
            </a:ext>
          </a:extLst>
        </p:cNvPr>
        <p:cNvGrpSpPr/>
        <p:nvPr/>
      </p:nvGrpSpPr>
      <p:grpSpPr>
        <a:xfrm>
          <a:off x="0" y="0"/>
          <a:ext cx="0" cy="0"/>
          <a:chOff x="0" y="0"/>
          <a:chExt cx="0" cy="0"/>
        </a:xfrm>
      </p:grpSpPr>
      <p:sp>
        <p:nvSpPr>
          <p:cNvPr id="94" name="Google Shape;94;g3da83fdd6a8_0_0:notes">
            <a:extLst>
              <a:ext uri="{FF2B5EF4-FFF2-40B4-BE49-F238E27FC236}">
                <a16:creationId xmlns:a16="http://schemas.microsoft.com/office/drawing/2014/main" id="{C9814852-FC8E-455E-0C0F-FFCEBC1A00B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5" name="Google Shape;95;g3da83fdd6a8_0_0:notes">
            <a:extLst>
              <a:ext uri="{FF2B5EF4-FFF2-40B4-BE49-F238E27FC236}">
                <a16:creationId xmlns:a16="http://schemas.microsoft.com/office/drawing/2014/main" id="{4EC5E90E-2D29-6D80-8579-9EA935C99D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DO"/>
          </a:p>
        </p:txBody>
      </p:sp>
    </p:spTree>
    <p:extLst>
      <p:ext uri="{BB962C8B-B14F-4D97-AF65-F5344CB8AC3E}">
        <p14:creationId xmlns:p14="http://schemas.microsoft.com/office/powerpoint/2010/main" val="17180326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1" name="Google Shape;10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DO"/>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7" name="Google Shape;10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DO"/>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db48d7b7b0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3" name="Google Shape;113;g3db48d7b7b0_0_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DO"/>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1"/>
        <p:cNvGrpSpPr/>
        <p:nvPr/>
      </p:nvGrpSpPr>
      <p:grpSpPr>
        <a:xfrm>
          <a:off x="0" y="0"/>
          <a:ext cx="0" cy="0"/>
          <a:chOff x="0" y="0"/>
          <a:chExt cx="0" cy="0"/>
        </a:xfrm>
      </p:grpSpPr>
      <p:sp>
        <p:nvSpPr>
          <p:cNvPr id="12" name="Google Shape;12;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 name="Google Shape;14;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DO"/>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7"/>
        <p:cNvGrpSpPr/>
        <p:nvPr/>
      </p:nvGrpSpPr>
      <p:grpSpPr>
        <a:xfrm>
          <a:off x="0" y="0"/>
          <a:ext cx="0" cy="0"/>
          <a:chOff x="0" y="0"/>
          <a:chExt cx="0" cy="0"/>
        </a:xfrm>
      </p:grpSpPr>
      <p:sp>
        <p:nvSpPr>
          <p:cNvPr id="18" name="Google Shape;18;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0" name="Google Shape;20;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DO"/>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3"/>
        <p:cNvGrpSpPr/>
        <p:nvPr/>
      </p:nvGrpSpPr>
      <p:grpSpPr>
        <a:xfrm>
          <a:off x="0" y="0"/>
          <a:ext cx="0" cy="0"/>
          <a:chOff x="0" y="0"/>
          <a:chExt cx="0" cy="0"/>
        </a:xfrm>
      </p:grpSpPr>
      <p:sp>
        <p:nvSpPr>
          <p:cNvPr id="24" name="Google Shape;24;p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DO"/>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29"/>
        <p:cNvGrpSpPr/>
        <p:nvPr/>
      </p:nvGrpSpPr>
      <p:grpSpPr>
        <a:xfrm>
          <a:off x="0" y="0"/>
          <a:ext cx="0" cy="0"/>
          <a:chOff x="0" y="0"/>
          <a:chExt cx="0" cy="0"/>
        </a:xfrm>
      </p:grpSpPr>
      <p:sp>
        <p:nvSpPr>
          <p:cNvPr id="30" name="Google Shape;30;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DO"/>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36"/>
        <p:cNvGrpSpPr/>
        <p:nvPr/>
      </p:nvGrpSpPr>
      <p:grpSpPr>
        <a:xfrm>
          <a:off x="0" y="0"/>
          <a:ext cx="0" cy="0"/>
          <a:chOff x="0" y="0"/>
          <a:chExt cx="0" cy="0"/>
        </a:xfrm>
      </p:grpSpPr>
      <p:sp>
        <p:nvSpPr>
          <p:cNvPr id="37" name="Google Shape;37;p1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1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DO"/>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5"/>
        <p:cNvGrpSpPr/>
        <p:nvPr/>
      </p:nvGrpSpPr>
      <p:grpSpPr>
        <a:xfrm>
          <a:off x="0" y="0"/>
          <a:ext cx="0" cy="0"/>
          <a:chOff x="0" y="0"/>
          <a:chExt cx="0" cy="0"/>
        </a:xfrm>
      </p:grpSpPr>
      <p:sp>
        <p:nvSpPr>
          <p:cNvPr id="46" name="Google Shape;46;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DO"/>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0"/>
        <p:cNvGrpSpPr/>
        <p:nvPr/>
      </p:nvGrpSpPr>
      <p:grpSpPr>
        <a:xfrm>
          <a:off x="0" y="0"/>
          <a:ext cx="0" cy="0"/>
          <a:chOff x="0" y="0"/>
          <a:chExt cx="0" cy="0"/>
        </a:xfrm>
      </p:grpSpPr>
      <p:sp>
        <p:nvSpPr>
          <p:cNvPr id="51" name="Google Shape;5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DO"/>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4"/>
        <p:cNvGrpSpPr/>
        <p:nvPr/>
      </p:nvGrpSpPr>
      <p:grpSpPr>
        <a:xfrm>
          <a:off x="0" y="0"/>
          <a:ext cx="0" cy="0"/>
          <a:chOff x="0" y="0"/>
          <a:chExt cx="0" cy="0"/>
        </a:xfrm>
      </p:grpSpPr>
      <p:sp>
        <p:nvSpPr>
          <p:cNvPr id="55" name="Google Shape;55;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DO"/>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1"/>
        <p:cNvGrpSpPr/>
        <p:nvPr/>
      </p:nvGrpSpPr>
      <p:grpSpPr>
        <a:xfrm>
          <a:off x="0" y="0"/>
          <a:ext cx="0" cy="0"/>
          <a:chOff x="0" y="0"/>
          <a:chExt cx="0" cy="0"/>
        </a:xfrm>
      </p:grpSpPr>
      <p:sp>
        <p:nvSpPr>
          <p:cNvPr id="62" name="Google Shape;62;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5"/>
          <p:cNvSpPr>
            <a:spLocks noGrp="1"/>
          </p:cNvSpPr>
          <p:nvPr>
            <p:ph type="pic" idx="2"/>
          </p:nvPr>
        </p:nvSpPr>
        <p:spPr>
          <a:xfrm>
            <a:off x="5183188" y="987425"/>
            <a:ext cx="6172200" cy="4873625"/>
          </a:xfrm>
          <a:prstGeom prst="rect">
            <a:avLst/>
          </a:prstGeom>
          <a:noFill/>
          <a:ln>
            <a:noFill/>
          </a:ln>
        </p:spPr>
        <p:txBody>
          <a:bodyPr/>
          <a:lstStyle/>
          <a:p>
            <a:endParaRPr lang="es-DO"/>
          </a:p>
        </p:txBody>
      </p:sp>
      <p:sp>
        <p:nvSpPr>
          <p:cNvPr id="64" name="Google Shape;64;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DO"/>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DO"/>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DO"/>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DO"/>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FREELANCER-KFH/fundamentos-ciberseguridad/tree/main/lab1"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a:hlinkClick r:id="rId3"/>
          </p:cNvPr>
          <p:cNvSpPr txBox="1">
            <a:spLocks noGrp="1"/>
          </p:cNvSpPr>
          <p:nvPr>
            <p:ph type="body" idx="1"/>
          </p:nvPr>
        </p:nvSpPr>
        <p:spPr>
          <a:xfrm>
            <a:off x="263236" y="2465293"/>
            <a:ext cx="11707091" cy="4296159"/>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s-DO" sz="2000" b="1" dirty="0"/>
              <a:t>Participante: </a:t>
            </a:r>
            <a:r>
              <a:rPr lang="es-DO" sz="2000" dirty="0"/>
              <a:t>Angel Luis Matos Vasquez </a:t>
            </a:r>
            <a:endParaRPr sz="2000" dirty="0"/>
          </a:p>
          <a:p>
            <a:pPr marL="0" lvl="0" indent="0" algn="l" rtl="0">
              <a:lnSpc>
                <a:spcPct val="90000"/>
              </a:lnSpc>
              <a:spcBef>
                <a:spcPts val="1000"/>
              </a:spcBef>
              <a:spcAft>
                <a:spcPts val="0"/>
              </a:spcAft>
              <a:buClr>
                <a:schemeClr val="dk1"/>
              </a:buClr>
              <a:buSzPts val="2800"/>
              <a:buNone/>
            </a:pPr>
            <a:r>
              <a:rPr lang="es-DO" sz="2000" b="1" dirty="0"/>
              <a:t>Técnico: </a:t>
            </a:r>
            <a:r>
              <a:rPr lang="es-DO" sz="2000" dirty="0"/>
              <a:t>Ciberseguridad</a:t>
            </a:r>
            <a:endParaRPr sz="2000" dirty="0"/>
          </a:p>
          <a:p>
            <a:pPr marL="0" lvl="0" indent="0" algn="l" rtl="0">
              <a:lnSpc>
                <a:spcPct val="90000"/>
              </a:lnSpc>
              <a:spcBef>
                <a:spcPts val="1000"/>
              </a:spcBef>
              <a:spcAft>
                <a:spcPts val="0"/>
              </a:spcAft>
              <a:buClr>
                <a:schemeClr val="dk1"/>
              </a:buClr>
              <a:buSzPts val="2800"/>
              <a:buNone/>
            </a:pPr>
            <a:r>
              <a:rPr lang="es-DO" sz="2000" b="1" dirty="0"/>
              <a:t>Módulo: </a:t>
            </a:r>
            <a:r>
              <a:rPr lang="es-DO" sz="2000" dirty="0"/>
              <a:t>Seguridad de Redes (SDR)</a:t>
            </a:r>
            <a:endParaRPr sz="2000" dirty="0"/>
          </a:p>
          <a:p>
            <a:pPr marL="0" lvl="0" indent="0" algn="l" rtl="0">
              <a:lnSpc>
                <a:spcPct val="90000"/>
              </a:lnSpc>
              <a:spcBef>
                <a:spcPts val="1000"/>
              </a:spcBef>
              <a:spcAft>
                <a:spcPts val="0"/>
              </a:spcAft>
              <a:buClr>
                <a:schemeClr val="dk1"/>
              </a:buClr>
              <a:buSzPts val="2800"/>
              <a:buNone/>
            </a:pPr>
            <a:r>
              <a:rPr lang="es-DO" sz="2000" b="1" dirty="0"/>
              <a:t>Facilitador: </a:t>
            </a:r>
            <a:r>
              <a:rPr lang="es-DO" sz="2000" dirty="0"/>
              <a:t>Kevin Feliz Henríquez</a:t>
            </a:r>
            <a:endParaRPr sz="2000" dirty="0"/>
          </a:p>
          <a:p>
            <a:pPr marL="0" lvl="0" indent="0" algn="l" rtl="0">
              <a:lnSpc>
                <a:spcPct val="90000"/>
              </a:lnSpc>
              <a:spcBef>
                <a:spcPts val="1000"/>
              </a:spcBef>
              <a:spcAft>
                <a:spcPts val="0"/>
              </a:spcAft>
              <a:buClr>
                <a:schemeClr val="dk1"/>
              </a:buClr>
              <a:buSzPts val="2800"/>
              <a:buNone/>
            </a:pPr>
            <a:r>
              <a:rPr lang="es-DO" sz="2000" b="1" dirty="0"/>
              <a:t>Centro: </a:t>
            </a:r>
            <a:r>
              <a:rPr lang="es-DO" sz="2000" dirty="0"/>
              <a:t>ICYTEC</a:t>
            </a:r>
            <a:endParaRPr sz="2000" dirty="0"/>
          </a:p>
          <a:p>
            <a:pPr marL="0" lvl="0" indent="0" algn="l" rtl="0">
              <a:lnSpc>
                <a:spcPct val="90000"/>
              </a:lnSpc>
              <a:spcBef>
                <a:spcPts val="1000"/>
              </a:spcBef>
              <a:spcAft>
                <a:spcPts val="0"/>
              </a:spcAft>
              <a:buClr>
                <a:schemeClr val="dk1"/>
              </a:buClr>
              <a:buSzPts val="2800"/>
              <a:buNone/>
            </a:pPr>
            <a:r>
              <a:rPr lang="es-DO" sz="2000" b="1" dirty="0"/>
              <a:t>Práctica: Laboratorio: </a:t>
            </a:r>
            <a:r>
              <a:rPr lang="es-DO" sz="2000" dirty="0"/>
              <a:t>Hardening Básico en Windows con PowerShell</a:t>
            </a:r>
            <a:endParaRPr sz="2000" dirty="0"/>
          </a:p>
          <a:p>
            <a:pPr marL="0" lvl="0" indent="0" algn="l" rtl="0">
              <a:lnSpc>
                <a:spcPct val="90000"/>
              </a:lnSpc>
              <a:spcBef>
                <a:spcPts val="1000"/>
              </a:spcBef>
              <a:spcAft>
                <a:spcPts val="0"/>
              </a:spcAft>
              <a:buClr>
                <a:schemeClr val="dk1"/>
              </a:buClr>
              <a:buSzPts val="2800"/>
              <a:buNone/>
            </a:pPr>
            <a:r>
              <a:rPr lang="es-DO" sz="2000" b="1" dirty="0"/>
              <a:t>Descripción: </a:t>
            </a:r>
            <a:r>
              <a:rPr lang="es-DO" sz="2000" dirty="0"/>
              <a:t>Aplicación de medidas Básicas de Hardening en estaciones Windows usando comandos PowerShell para reducir la superficie de ataque del sistema operativo de </a:t>
            </a:r>
            <a:r>
              <a:rPr lang="es-DO" sz="2000" dirty="0" err="1"/>
              <a:t>Wind</a:t>
            </a:r>
            <a:r>
              <a:rPr lang="es-DO" sz="2000" dirty="0"/>
              <a:t> Telecom.</a:t>
            </a:r>
            <a:endParaRPr sz="2000" dirty="0"/>
          </a:p>
        </p:txBody>
      </p:sp>
      <p:pic>
        <p:nvPicPr>
          <p:cNvPr id="85" name="Google Shape;85;p1"/>
          <p:cNvPicPr preferRelativeResize="0"/>
          <p:nvPr/>
        </p:nvPicPr>
        <p:blipFill rotWithShape="1">
          <a:blip r:embed="rId4">
            <a:alphaModFix/>
          </a:blip>
          <a:srcRect/>
          <a:stretch/>
        </p:blipFill>
        <p:spPr>
          <a:xfrm>
            <a:off x="1649451" y="455813"/>
            <a:ext cx="3210274" cy="1880611"/>
          </a:xfrm>
          <a:prstGeom prst="rect">
            <a:avLst/>
          </a:prstGeom>
          <a:noFill/>
          <a:ln>
            <a:noFill/>
          </a:ln>
        </p:spPr>
      </p:pic>
      <p:pic>
        <p:nvPicPr>
          <p:cNvPr id="86" name="Google Shape;86;p1"/>
          <p:cNvPicPr preferRelativeResize="0"/>
          <p:nvPr/>
        </p:nvPicPr>
        <p:blipFill>
          <a:blip r:embed="rId5">
            <a:alphaModFix/>
          </a:blip>
          <a:stretch>
            <a:fillRect/>
          </a:stretch>
        </p:blipFill>
        <p:spPr>
          <a:xfrm>
            <a:off x="6822141" y="455813"/>
            <a:ext cx="2142565" cy="212825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
          <p:cNvSpPr txBox="1">
            <a:spLocks noGrp="1"/>
          </p:cNvSpPr>
          <p:nvPr>
            <p:ph type="title"/>
          </p:nvPr>
        </p:nvSpPr>
        <p:spPr>
          <a:xfrm>
            <a:off x="975650" y="466165"/>
            <a:ext cx="10378150" cy="44053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DO" sz="2000" b="1" dirty="0"/>
              <a:t>Desarrollo de la investigación/laboratorio</a:t>
            </a:r>
            <a:endParaRPr sz="2000" b="1" dirty="0"/>
          </a:p>
        </p:txBody>
      </p:sp>
      <p:sp>
        <p:nvSpPr>
          <p:cNvPr id="92" name="Google Shape;92;p2"/>
          <p:cNvSpPr txBox="1"/>
          <p:nvPr/>
        </p:nvSpPr>
        <p:spPr>
          <a:xfrm>
            <a:off x="787391" y="1171118"/>
            <a:ext cx="9705600" cy="4801284"/>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s-DO" sz="2000" b="1" i="0" u="none" strike="noStrike" cap="none" dirty="0">
                <a:solidFill>
                  <a:schemeClr val="dk1"/>
                </a:solidFill>
                <a:latin typeface="Calibri"/>
                <a:ea typeface="Calibri"/>
                <a:cs typeface="Calibri"/>
                <a:sym typeface="Calibri"/>
              </a:rPr>
              <a:t>Definición: </a:t>
            </a:r>
            <a:r>
              <a:rPr lang="es-DO" sz="1600" dirty="0">
                <a:solidFill>
                  <a:schemeClr val="dk1"/>
                </a:solidFill>
                <a:latin typeface="Calibri"/>
                <a:ea typeface="Calibri"/>
                <a:cs typeface="Calibri"/>
                <a:sym typeface="Calibri"/>
              </a:rPr>
              <a:t>La empresa </a:t>
            </a:r>
            <a:r>
              <a:rPr lang="es-DO" sz="1600" dirty="0" err="1">
                <a:solidFill>
                  <a:schemeClr val="dk1"/>
                </a:solidFill>
                <a:latin typeface="Calibri"/>
                <a:ea typeface="Calibri"/>
                <a:cs typeface="Calibri"/>
                <a:sym typeface="Calibri"/>
              </a:rPr>
              <a:t>Wind</a:t>
            </a:r>
            <a:r>
              <a:rPr lang="es-DO" sz="1600" dirty="0">
                <a:solidFill>
                  <a:schemeClr val="dk1"/>
                </a:solidFill>
                <a:latin typeface="Calibri"/>
                <a:ea typeface="Calibri"/>
                <a:cs typeface="Calibri"/>
                <a:sym typeface="Calibri"/>
              </a:rPr>
              <a:t> Telecom ha detectado </a:t>
            </a:r>
            <a:r>
              <a:rPr lang="es-DO" sz="1600" dirty="0" err="1">
                <a:solidFill>
                  <a:schemeClr val="dk1"/>
                </a:solidFill>
                <a:latin typeface="Calibri"/>
                <a:ea typeface="Calibri"/>
                <a:cs typeface="Calibri"/>
                <a:sym typeface="Calibri"/>
              </a:rPr>
              <a:t>multiples</a:t>
            </a:r>
            <a:r>
              <a:rPr lang="es-DO" sz="1600" dirty="0">
                <a:solidFill>
                  <a:schemeClr val="dk1"/>
                </a:solidFill>
                <a:latin typeface="Calibri"/>
                <a:ea typeface="Calibri"/>
                <a:cs typeface="Calibri"/>
                <a:sym typeface="Calibri"/>
              </a:rPr>
              <a:t> riesgos de seguridad en las estaciones de trabajo de su departamento administrativo. Para reducir la superficie de ataque, se aplicaran medidas de hardening utilizando PowerShell, herramienta de línea de comandos avanzada de Windows que permite administrar el sistema operativo, configurar el Firewall, gestionar interfaces de red y automatizar tareas de seguridad con privilegios de administrador. </a:t>
            </a:r>
            <a:br>
              <a:rPr lang="es-DO" sz="1600" b="0" i="0" u="none" strike="noStrike" cap="none" dirty="0">
                <a:solidFill>
                  <a:schemeClr val="dk1"/>
                </a:solidFill>
                <a:latin typeface="Calibri"/>
                <a:ea typeface="Calibri"/>
                <a:cs typeface="Calibri"/>
                <a:sym typeface="Calibri"/>
              </a:rPr>
            </a:br>
            <a:endParaRPr lang="es-DO" sz="16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800"/>
              <a:buFont typeface="Arial"/>
              <a:buNone/>
            </a:pPr>
            <a:r>
              <a:rPr lang="es-DO" sz="2000" b="0" i="0" u="none" strike="noStrike" cap="none" dirty="0">
                <a:solidFill>
                  <a:schemeClr val="dk1"/>
                </a:solidFill>
                <a:latin typeface="Calibri"/>
                <a:ea typeface="Calibri"/>
                <a:cs typeface="Calibri"/>
                <a:sym typeface="Calibri"/>
              </a:rPr>
              <a:t>características: </a:t>
            </a:r>
          </a:p>
          <a:p>
            <a:pPr marL="0" marR="0" lvl="0" indent="0" algn="l" rtl="0">
              <a:lnSpc>
                <a:spcPct val="100000"/>
              </a:lnSpc>
              <a:spcBef>
                <a:spcPts val="0"/>
              </a:spcBef>
              <a:spcAft>
                <a:spcPts val="0"/>
              </a:spcAft>
              <a:buClr>
                <a:srgbClr val="000000"/>
              </a:buClr>
              <a:buSzPts val="2800"/>
              <a:buFont typeface="Arial"/>
              <a:buNone/>
            </a:pPr>
            <a:endParaRPr lang="es-DO" sz="2000" b="0" i="0" u="none" strike="noStrike" cap="none" dirty="0">
              <a:solidFill>
                <a:schemeClr val="dk1"/>
              </a:solidFill>
              <a:latin typeface="Calibri"/>
              <a:ea typeface="Calibri"/>
              <a:cs typeface="Calibri"/>
              <a:sym typeface="Calibri"/>
            </a:endParaRPr>
          </a:p>
          <a:p>
            <a:pPr marR="0" lvl="0" algn="l" rtl="0">
              <a:lnSpc>
                <a:spcPct val="100000"/>
              </a:lnSpc>
              <a:spcBef>
                <a:spcPts val="0"/>
              </a:spcBef>
              <a:spcAft>
                <a:spcPts val="0"/>
              </a:spcAft>
              <a:buClr>
                <a:srgbClr val="000000"/>
              </a:buClr>
              <a:buSzPts val="2800"/>
            </a:pPr>
            <a:r>
              <a:rPr lang="es-DO" sz="2000" dirty="0">
                <a:solidFill>
                  <a:schemeClr val="dk1"/>
                </a:solidFill>
                <a:latin typeface="Calibri"/>
                <a:ea typeface="Calibri"/>
                <a:cs typeface="Calibri"/>
                <a:sym typeface="Calibri"/>
              </a:rPr>
              <a:t>1</a:t>
            </a:r>
            <a:r>
              <a:rPr lang="es-DO" sz="1600" dirty="0">
                <a:solidFill>
                  <a:schemeClr val="dk1"/>
                </a:solidFill>
                <a:latin typeface="Calibri"/>
                <a:ea typeface="Calibri"/>
                <a:cs typeface="Calibri"/>
                <a:sym typeface="Calibri"/>
              </a:rPr>
              <a:t>. Permite configurar y administrar el Firewall de Windows en todos los perfiles (Dominio, Privado, Publico) usando </a:t>
            </a:r>
            <a:r>
              <a:rPr lang="es-DO" sz="1600" dirty="0" err="1">
                <a:solidFill>
                  <a:schemeClr val="dk1"/>
                </a:solidFill>
                <a:latin typeface="Calibri"/>
                <a:ea typeface="Calibri"/>
                <a:cs typeface="Calibri"/>
                <a:sym typeface="Calibri"/>
              </a:rPr>
              <a:t>cmdlets</a:t>
            </a:r>
            <a:r>
              <a:rPr lang="es-DO" sz="1600" dirty="0">
                <a:solidFill>
                  <a:schemeClr val="dk1"/>
                </a:solidFill>
                <a:latin typeface="Calibri"/>
                <a:ea typeface="Calibri"/>
                <a:cs typeface="Calibri"/>
                <a:sym typeface="Calibri"/>
              </a:rPr>
              <a:t> específicos como Set-</a:t>
            </a:r>
            <a:r>
              <a:rPr lang="es-DO" sz="1600" dirty="0" err="1">
                <a:solidFill>
                  <a:schemeClr val="dk1"/>
                </a:solidFill>
                <a:latin typeface="Calibri"/>
                <a:ea typeface="Calibri"/>
                <a:cs typeface="Calibri"/>
                <a:sym typeface="Calibri"/>
              </a:rPr>
              <a:t>NetFirewallProfile</a:t>
            </a:r>
            <a:r>
              <a:rPr lang="es-DO" sz="1600" dirty="0">
                <a:solidFill>
                  <a:schemeClr val="dk1"/>
                </a:solidFill>
                <a:latin typeface="Calibri"/>
                <a:ea typeface="Calibri"/>
                <a:cs typeface="Calibri"/>
                <a:sym typeface="Calibri"/>
              </a:rPr>
              <a:t> y </a:t>
            </a:r>
            <a:r>
              <a:rPr lang="es-DO" sz="1600" dirty="0" err="1">
                <a:solidFill>
                  <a:schemeClr val="dk1"/>
                </a:solidFill>
                <a:latin typeface="Calibri"/>
                <a:ea typeface="Calibri"/>
                <a:cs typeface="Calibri"/>
                <a:sym typeface="Calibri"/>
              </a:rPr>
              <a:t>Get-NetFirewallProfile</a:t>
            </a:r>
            <a:r>
              <a:rPr lang="es-DO" sz="1600" dirty="0">
                <a:solidFill>
                  <a:schemeClr val="dk1"/>
                </a:solidFill>
                <a:latin typeface="Calibri"/>
                <a:ea typeface="Calibri"/>
                <a:cs typeface="Calibri"/>
                <a:sym typeface="Calibri"/>
              </a:rPr>
              <a:t>.</a:t>
            </a:r>
          </a:p>
          <a:p>
            <a:pPr marR="0" lvl="0" algn="l" rtl="0">
              <a:lnSpc>
                <a:spcPct val="100000"/>
              </a:lnSpc>
              <a:spcBef>
                <a:spcPts val="0"/>
              </a:spcBef>
              <a:spcAft>
                <a:spcPts val="0"/>
              </a:spcAft>
              <a:buClr>
                <a:srgbClr val="000000"/>
              </a:buClr>
              <a:buSzPts val="2800"/>
            </a:pPr>
            <a:endParaRPr lang="es-DO" sz="1600" i="0" u="none" strike="noStrike" cap="none" dirty="0">
              <a:solidFill>
                <a:schemeClr val="dk1"/>
              </a:solidFill>
              <a:latin typeface="Calibri"/>
              <a:ea typeface="Calibri"/>
              <a:cs typeface="Calibri"/>
              <a:sym typeface="Calibri"/>
            </a:endParaRPr>
          </a:p>
          <a:p>
            <a:pPr marR="0" lvl="0" algn="l" rtl="0">
              <a:lnSpc>
                <a:spcPct val="100000"/>
              </a:lnSpc>
              <a:spcBef>
                <a:spcPts val="0"/>
              </a:spcBef>
              <a:spcAft>
                <a:spcPts val="0"/>
              </a:spcAft>
              <a:buClr>
                <a:srgbClr val="000000"/>
              </a:buClr>
              <a:buSzPts val="2800"/>
            </a:pPr>
            <a:r>
              <a:rPr lang="es-DO" sz="1600" i="0" u="none" strike="noStrike" cap="none" dirty="0">
                <a:solidFill>
                  <a:schemeClr val="dk1"/>
                </a:solidFill>
                <a:latin typeface="Calibri"/>
                <a:ea typeface="Calibri"/>
                <a:cs typeface="Calibri"/>
                <a:sym typeface="Calibri"/>
              </a:rPr>
              <a:t>2. Facilita la creación de reglas especificas para bloquear puertos y protocolos peligrosos como SMB (Puerto 445)</a:t>
            </a:r>
          </a:p>
          <a:p>
            <a:pPr marR="0" lvl="0" algn="l" rtl="0">
              <a:lnSpc>
                <a:spcPct val="100000"/>
              </a:lnSpc>
              <a:spcBef>
                <a:spcPts val="0"/>
              </a:spcBef>
              <a:spcAft>
                <a:spcPts val="0"/>
              </a:spcAft>
              <a:buClr>
                <a:srgbClr val="000000"/>
              </a:buClr>
              <a:buSzPts val="2800"/>
            </a:pPr>
            <a:r>
              <a:rPr lang="es-DO" sz="1600" dirty="0">
                <a:solidFill>
                  <a:schemeClr val="dk1"/>
                </a:solidFill>
                <a:latin typeface="Calibri"/>
                <a:ea typeface="Calibri"/>
                <a:cs typeface="Calibri"/>
                <a:sym typeface="Calibri"/>
              </a:rPr>
              <a:t>E ICMP usando New-</a:t>
            </a:r>
            <a:r>
              <a:rPr lang="es-DO" sz="1600" dirty="0" err="1">
                <a:solidFill>
                  <a:schemeClr val="dk1"/>
                </a:solidFill>
                <a:latin typeface="Calibri"/>
                <a:ea typeface="Calibri"/>
                <a:cs typeface="Calibri"/>
                <a:sym typeface="Calibri"/>
              </a:rPr>
              <a:t>NetFirewallRule</a:t>
            </a:r>
            <a:r>
              <a:rPr lang="es-DO" sz="1600" dirty="0">
                <a:solidFill>
                  <a:schemeClr val="dk1"/>
                </a:solidFill>
                <a:latin typeface="Calibri"/>
                <a:ea typeface="Calibri"/>
                <a:cs typeface="Calibri"/>
                <a:sym typeface="Calibri"/>
              </a:rPr>
              <a:t>.</a:t>
            </a:r>
          </a:p>
          <a:p>
            <a:pPr marR="0" lvl="0" algn="l" rtl="0">
              <a:lnSpc>
                <a:spcPct val="100000"/>
              </a:lnSpc>
              <a:spcBef>
                <a:spcPts val="0"/>
              </a:spcBef>
              <a:spcAft>
                <a:spcPts val="0"/>
              </a:spcAft>
              <a:buClr>
                <a:srgbClr val="000000"/>
              </a:buClr>
              <a:buSzPts val="2800"/>
            </a:pPr>
            <a:endParaRPr lang="es-DO" sz="1600" i="0" u="none" strike="noStrike" cap="none" dirty="0">
              <a:solidFill>
                <a:schemeClr val="dk1"/>
              </a:solidFill>
              <a:latin typeface="Calibri"/>
              <a:ea typeface="Calibri"/>
              <a:cs typeface="Calibri"/>
              <a:sym typeface="Calibri"/>
            </a:endParaRPr>
          </a:p>
          <a:p>
            <a:pPr marR="0" lvl="0" algn="l" rtl="0">
              <a:lnSpc>
                <a:spcPct val="100000"/>
              </a:lnSpc>
              <a:spcBef>
                <a:spcPts val="0"/>
              </a:spcBef>
              <a:spcAft>
                <a:spcPts val="0"/>
              </a:spcAft>
              <a:buClr>
                <a:srgbClr val="000000"/>
              </a:buClr>
              <a:buSzPts val="2800"/>
            </a:pPr>
            <a:r>
              <a:rPr lang="es-DO" sz="1600" dirty="0">
                <a:solidFill>
                  <a:schemeClr val="dk1"/>
                </a:solidFill>
                <a:latin typeface="Calibri"/>
                <a:ea typeface="Calibri"/>
                <a:cs typeface="Calibri"/>
                <a:sym typeface="Calibri"/>
              </a:rPr>
              <a:t>3. Permite verificar conexiones activas, puertos en escucha y auditar configuraciones de seguridad en tiempo real usando </a:t>
            </a:r>
            <a:r>
              <a:rPr lang="es-DO" sz="1600" dirty="0" err="1">
                <a:solidFill>
                  <a:schemeClr val="dk1"/>
                </a:solidFill>
                <a:latin typeface="Calibri"/>
                <a:ea typeface="Calibri"/>
                <a:cs typeface="Calibri"/>
                <a:sym typeface="Calibri"/>
              </a:rPr>
              <a:t>Get-NetTCPConnection</a:t>
            </a:r>
            <a:r>
              <a:rPr lang="es-DO" sz="1600" dirty="0">
                <a:solidFill>
                  <a:schemeClr val="dk1"/>
                </a:solidFill>
                <a:latin typeface="Calibri"/>
                <a:ea typeface="Calibri"/>
                <a:cs typeface="Calibri"/>
                <a:sym typeface="Calibri"/>
              </a:rPr>
              <a:t>.</a:t>
            </a:r>
            <a:endParaRPr sz="1600" i="0" u="none" strike="noStrike" cap="none" dirty="0">
              <a:solidFill>
                <a:schemeClr val="dk1"/>
              </a:solidFill>
              <a:latin typeface="Calibri"/>
              <a:ea typeface="Calibri"/>
              <a:cs typeface="Calibri"/>
              <a:sym typeface="Calibri"/>
            </a:endParaRPr>
          </a:p>
          <a:p>
            <a:pPr marL="50800" marR="0" lvl="0" algn="l" rtl="0">
              <a:lnSpc>
                <a:spcPct val="100000"/>
              </a:lnSpc>
              <a:spcBef>
                <a:spcPts val="0"/>
              </a:spcBef>
              <a:spcAft>
                <a:spcPts val="0"/>
              </a:spcAft>
              <a:buClr>
                <a:schemeClr val="dk1"/>
              </a:buClr>
              <a:buSzPts val="2800"/>
            </a:pPr>
            <a:endParaRPr sz="28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g3da83fdd6a8_0_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sz="2000" dirty="0"/>
              <a:t>P</a:t>
            </a:r>
            <a:r>
              <a:rPr lang="es-DO" sz="2000" dirty="0"/>
              <a:t>aso 1: Fase 1: Verificación inicial del sistema </a:t>
            </a:r>
            <a:br>
              <a:rPr lang="es-DO" sz="2000" dirty="0"/>
            </a:br>
            <a:r>
              <a:rPr lang="es-DO" sz="2000" dirty="0"/>
              <a:t>Objetivo: Identificar la configuración actual de red y seguridad antes de aplicar hardening.</a:t>
            </a:r>
            <a:endParaRPr sz="2000" dirty="0"/>
          </a:p>
        </p:txBody>
      </p:sp>
      <p:sp>
        <p:nvSpPr>
          <p:cNvPr id="3" name="Marcador de texto 2">
            <a:extLst>
              <a:ext uri="{FF2B5EF4-FFF2-40B4-BE49-F238E27FC236}">
                <a16:creationId xmlns:a16="http://schemas.microsoft.com/office/drawing/2014/main" id="{E8A15C69-6F98-906F-DC03-5130BB9407CA}"/>
              </a:ext>
            </a:extLst>
          </p:cNvPr>
          <p:cNvSpPr>
            <a:spLocks noGrp="1"/>
          </p:cNvSpPr>
          <p:nvPr>
            <p:ph type="body" idx="1"/>
          </p:nvPr>
        </p:nvSpPr>
        <p:spPr/>
        <p:txBody>
          <a:bodyPr/>
          <a:lstStyle/>
          <a:p>
            <a:endParaRPr lang="es-DO" dirty="0"/>
          </a:p>
        </p:txBody>
      </p:sp>
      <p:pic>
        <p:nvPicPr>
          <p:cNvPr id="7" name="Imagen 6">
            <a:extLst>
              <a:ext uri="{FF2B5EF4-FFF2-40B4-BE49-F238E27FC236}">
                <a16:creationId xmlns:a16="http://schemas.microsoft.com/office/drawing/2014/main" id="{91D449E5-1ACF-205C-EC91-9159573DAD39}"/>
              </a:ext>
            </a:extLst>
          </p:cNvPr>
          <p:cNvPicPr>
            <a:picLocks noChangeAspect="1"/>
          </p:cNvPicPr>
          <p:nvPr/>
        </p:nvPicPr>
        <p:blipFill>
          <a:blip r:embed="rId3"/>
          <a:stretch>
            <a:fillRect/>
          </a:stretch>
        </p:blipFill>
        <p:spPr>
          <a:xfrm>
            <a:off x="3071455" y="1825625"/>
            <a:ext cx="5134692" cy="354379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37B95B33-A108-D8F0-F88F-8F39449F3090}"/>
            </a:ext>
          </a:extLst>
        </p:cNvPr>
        <p:cNvGrpSpPr/>
        <p:nvPr/>
      </p:nvGrpSpPr>
      <p:grpSpPr>
        <a:xfrm>
          <a:off x="0" y="0"/>
          <a:ext cx="0" cy="0"/>
          <a:chOff x="0" y="0"/>
          <a:chExt cx="0" cy="0"/>
        </a:xfrm>
      </p:grpSpPr>
      <p:sp>
        <p:nvSpPr>
          <p:cNvPr id="97" name="Google Shape;97;g3da83fdd6a8_0_0">
            <a:extLst>
              <a:ext uri="{FF2B5EF4-FFF2-40B4-BE49-F238E27FC236}">
                <a16:creationId xmlns:a16="http://schemas.microsoft.com/office/drawing/2014/main" id="{A9E0480E-99F4-E7A7-6BEF-70300C7540D5}"/>
              </a:ext>
            </a:extLst>
          </p:cNvPr>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sz="2000" dirty="0"/>
              <a:t>P</a:t>
            </a:r>
            <a:r>
              <a:rPr lang="es-DO" sz="2000" dirty="0"/>
              <a:t>aso 1: Fase 1: Verificación inicial del sistema </a:t>
            </a:r>
            <a:br>
              <a:rPr lang="es-DO" sz="2000" dirty="0"/>
            </a:br>
            <a:r>
              <a:rPr lang="es-DO" sz="2000" dirty="0"/>
              <a:t>Objetivo: Identificar la configuración actual de red y seguridad antes de aplicar hardening.</a:t>
            </a:r>
            <a:endParaRPr sz="2000" dirty="0"/>
          </a:p>
        </p:txBody>
      </p:sp>
      <p:sp>
        <p:nvSpPr>
          <p:cNvPr id="3" name="Marcador de texto 2">
            <a:extLst>
              <a:ext uri="{FF2B5EF4-FFF2-40B4-BE49-F238E27FC236}">
                <a16:creationId xmlns:a16="http://schemas.microsoft.com/office/drawing/2014/main" id="{6B6E494F-861E-DBD2-BC1F-534DA1696898}"/>
              </a:ext>
            </a:extLst>
          </p:cNvPr>
          <p:cNvSpPr>
            <a:spLocks noGrp="1"/>
          </p:cNvSpPr>
          <p:nvPr>
            <p:ph type="body" idx="1"/>
          </p:nvPr>
        </p:nvSpPr>
        <p:spPr/>
        <p:txBody>
          <a:bodyPr>
            <a:normAutofit/>
          </a:bodyPr>
          <a:lstStyle/>
          <a:p>
            <a:pPr marL="114300" indent="0">
              <a:buNone/>
            </a:pPr>
            <a:endParaRPr lang="es-DO" sz="800" dirty="0"/>
          </a:p>
        </p:txBody>
      </p:sp>
      <p:pic>
        <p:nvPicPr>
          <p:cNvPr id="6" name="Imagen 5">
            <a:extLst>
              <a:ext uri="{FF2B5EF4-FFF2-40B4-BE49-F238E27FC236}">
                <a16:creationId xmlns:a16="http://schemas.microsoft.com/office/drawing/2014/main" id="{09D87865-D622-A987-2DE5-293121F7C4AF}"/>
              </a:ext>
            </a:extLst>
          </p:cNvPr>
          <p:cNvPicPr>
            <a:picLocks noChangeAspect="1"/>
          </p:cNvPicPr>
          <p:nvPr/>
        </p:nvPicPr>
        <p:blipFill>
          <a:blip r:embed="rId3"/>
          <a:stretch>
            <a:fillRect/>
          </a:stretch>
        </p:blipFill>
        <p:spPr>
          <a:xfrm>
            <a:off x="3483259" y="1308847"/>
            <a:ext cx="5225482" cy="5468472"/>
          </a:xfrm>
          <a:prstGeom prst="rect">
            <a:avLst/>
          </a:prstGeom>
        </p:spPr>
      </p:pic>
    </p:spTree>
    <p:extLst>
      <p:ext uri="{BB962C8B-B14F-4D97-AF65-F5344CB8AC3E}">
        <p14:creationId xmlns:p14="http://schemas.microsoft.com/office/powerpoint/2010/main" val="9899450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66765A25-5182-DB09-C268-040DDA0E29AA}"/>
            </a:ext>
          </a:extLst>
        </p:cNvPr>
        <p:cNvGrpSpPr/>
        <p:nvPr/>
      </p:nvGrpSpPr>
      <p:grpSpPr>
        <a:xfrm>
          <a:off x="0" y="0"/>
          <a:ext cx="0" cy="0"/>
          <a:chOff x="0" y="0"/>
          <a:chExt cx="0" cy="0"/>
        </a:xfrm>
      </p:grpSpPr>
      <p:sp>
        <p:nvSpPr>
          <p:cNvPr id="97" name="Google Shape;97;g3da83fdd6a8_0_0">
            <a:extLst>
              <a:ext uri="{FF2B5EF4-FFF2-40B4-BE49-F238E27FC236}">
                <a16:creationId xmlns:a16="http://schemas.microsoft.com/office/drawing/2014/main" id="{12DEC778-913B-FAB2-DD1F-2120FCE70394}"/>
              </a:ext>
            </a:extLst>
          </p:cNvPr>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sz="2000" dirty="0"/>
              <a:t>P</a:t>
            </a:r>
            <a:r>
              <a:rPr lang="es-DO" sz="2000" dirty="0"/>
              <a:t>aso 1: Fase 1: Verificación inicial del sistema </a:t>
            </a:r>
            <a:br>
              <a:rPr lang="es-DO" sz="2000" dirty="0"/>
            </a:br>
            <a:r>
              <a:rPr lang="es-DO" sz="2000" dirty="0"/>
              <a:t>Objetivo: Identificar la configuración actual de red y seguridad antes de aplicar hardening.</a:t>
            </a:r>
            <a:endParaRPr sz="2000" dirty="0"/>
          </a:p>
        </p:txBody>
      </p:sp>
      <p:sp>
        <p:nvSpPr>
          <p:cNvPr id="3" name="Marcador de texto 2">
            <a:extLst>
              <a:ext uri="{FF2B5EF4-FFF2-40B4-BE49-F238E27FC236}">
                <a16:creationId xmlns:a16="http://schemas.microsoft.com/office/drawing/2014/main" id="{F92B2EF7-67AA-F62B-E73E-4A6EB825256E}"/>
              </a:ext>
            </a:extLst>
          </p:cNvPr>
          <p:cNvSpPr>
            <a:spLocks noGrp="1"/>
          </p:cNvSpPr>
          <p:nvPr>
            <p:ph type="body" idx="1"/>
          </p:nvPr>
        </p:nvSpPr>
        <p:spPr/>
        <p:txBody>
          <a:bodyPr>
            <a:normAutofit/>
          </a:bodyPr>
          <a:lstStyle/>
          <a:p>
            <a:pPr marL="114300" indent="0">
              <a:buNone/>
            </a:pPr>
            <a:endParaRPr lang="es-DO" sz="800" dirty="0"/>
          </a:p>
        </p:txBody>
      </p:sp>
      <p:pic>
        <p:nvPicPr>
          <p:cNvPr id="4" name="Imagen 3">
            <a:extLst>
              <a:ext uri="{FF2B5EF4-FFF2-40B4-BE49-F238E27FC236}">
                <a16:creationId xmlns:a16="http://schemas.microsoft.com/office/drawing/2014/main" id="{6EEA3AA1-B396-26E3-92D7-7CEF9978A4AF}"/>
              </a:ext>
            </a:extLst>
          </p:cNvPr>
          <p:cNvPicPr>
            <a:picLocks noChangeAspect="1"/>
          </p:cNvPicPr>
          <p:nvPr/>
        </p:nvPicPr>
        <p:blipFill>
          <a:blip r:embed="rId3"/>
          <a:stretch>
            <a:fillRect/>
          </a:stretch>
        </p:blipFill>
        <p:spPr>
          <a:xfrm>
            <a:off x="3361765" y="1475720"/>
            <a:ext cx="5253949" cy="4351338"/>
          </a:xfrm>
          <a:prstGeom prst="rect">
            <a:avLst/>
          </a:prstGeom>
        </p:spPr>
      </p:pic>
    </p:spTree>
    <p:extLst>
      <p:ext uri="{BB962C8B-B14F-4D97-AF65-F5344CB8AC3E}">
        <p14:creationId xmlns:p14="http://schemas.microsoft.com/office/powerpoint/2010/main" val="17104759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BF09AD22-061D-EB2A-86F5-4A9CBF721CEA}"/>
            </a:ext>
          </a:extLst>
        </p:cNvPr>
        <p:cNvGrpSpPr/>
        <p:nvPr/>
      </p:nvGrpSpPr>
      <p:grpSpPr>
        <a:xfrm>
          <a:off x="0" y="0"/>
          <a:ext cx="0" cy="0"/>
          <a:chOff x="0" y="0"/>
          <a:chExt cx="0" cy="0"/>
        </a:xfrm>
      </p:grpSpPr>
      <p:sp>
        <p:nvSpPr>
          <p:cNvPr id="97" name="Google Shape;97;g3da83fdd6a8_0_0">
            <a:extLst>
              <a:ext uri="{FF2B5EF4-FFF2-40B4-BE49-F238E27FC236}">
                <a16:creationId xmlns:a16="http://schemas.microsoft.com/office/drawing/2014/main" id="{AD4D2D09-260A-68AD-D88A-870C63E330B4}"/>
              </a:ext>
            </a:extLst>
          </p:cNvPr>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sz="2000" dirty="0"/>
              <a:t>P</a:t>
            </a:r>
            <a:r>
              <a:rPr lang="es-DO" sz="2000" dirty="0"/>
              <a:t>aso 1: Fase 1: Verificación inicial del sistema </a:t>
            </a:r>
            <a:br>
              <a:rPr lang="es-DO" sz="2000" dirty="0"/>
            </a:br>
            <a:r>
              <a:rPr lang="es-DO" sz="2000" dirty="0"/>
              <a:t>Objetivo: Identificar la configuración actual de red y seguridad antes de aplicar hardening.</a:t>
            </a:r>
            <a:endParaRPr sz="2000" dirty="0"/>
          </a:p>
        </p:txBody>
      </p:sp>
      <p:sp>
        <p:nvSpPr>
          <p:cNvPr id="3" name="Marcador de texto 2">
            <a:extLst>
              <a:ext uri="{FF2B5EF4-FFF2-40B4-BE49-F238E27FC236}">
                <a16:creationId xmlns:a16="http://schemas.microsoft.com/office/drawing/2014/main" id="{D52C8BB2-D10C-F078-FE83-B7A37D147039}"/>
              </a:ext>
            </a:extLst>
          </p:cNvPr>
          <p:cNvSpPr>
            <a:spLocks noGrp="1"/>
          </p:cNvSpPr>
          <p:nvPr>
            <p:ph type="body" idx="1"/>
          </p:nvPr>
        </p:nvSpPr>
        <p:spPr/>
        <p:txBody>
          <a:bodyPr>
            <a:normAutofit/>
          </a:bodyPr>
          <a:lstStyle/>
          <a:p>
            <a:pPr marL="114300" indent="0">
              <a:buNone/>
            </a:pPr>
            <a:endParaRPr lang="es-DO" sz="800" dirty="0"/>
          </a:p>
        </p:txBody>
      </p:sp>
      <p:pic>
        <p:nvPicPr>
          <p:cNvPr id="5" name="Imagen 4">
            <a:extLst>
              <a:ext uri="{FF2B5EF4-FFF2-40B4-BE49-F238E27FC236}">
                <a16:creationId xmlns:a16="http://schemas.microsoft.com/office/drawing/2014/main" id="{75010E14-A88F-A771-ED51-26357494DDD2}"/>
              </a:ext>
            </a:extLst>
          </p:cNvPr>
          <p:cNvPicPr>
            <a:picLocks noChangeAspect="1"/>
          </p:cNvPicPr>
          <p:nvPr/>
        </p:nvPicPr>
        <p:blipFill>
          <a:blip r:embed="rId3"/>
          <a:stretch>
            <a:fillRect/>
          </a:stretch>
        </p:blipFill>
        <p:spPr>
          <a:xfrm>
            <a:off x="3400763" y="1317812"/>
            <a:ext cx="5390474" cy="5540187"/>
          </a:xfrm>
          <a:prstGeom prst="rect">
            <a:avLst/>
          </a:prstGeom>
        </p:spPr>
      </p:pic>
    </p:spTree>
    <p:extLst>
      <p:ext uri="{BB962C8B-B14F-4D97-AF65-F5344CB8AC3E}">
        <p14:creationId xmlns:p14="http://schemas.microsoft.com/office/powerpoint/2010/main" val="1047747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8A5E31CB-DEA7-1914-FD64-2AA5060BC04F}"/>
            </a:ext>
          </a:extLst>
        </p:cNvPr>
        <p:cNvGrpSpPr/>
        <p:nvPr/>
      </p:nvGrpSpPr>
      <p:grpSpPr>
        <a:xfrm>
          <a:off x="0" y="0"/>
          <a:ext cx="0" cy="0"/>
          <a:chOff x="0" y="0"/>
          <a:chExt cx="0" cy="0"/>
        </a:xfrm>
      </p:grpSpPr>
      <p:sp>
        <p:nvSpPr>
          <p:cNvPr id="97" name="Google Shape;97;g3da83fdd6a8_0_0">
            <a:extLst>
              <a:ext uri="{FF2B5EF4-FFF2-40B4-BE49-F238E27FC236}">
                <a16:creationId xmlns:a16="http://schemas.microsoft.com/office/drawing/2014/main" id="{F0102FB6-1889-277B-550C-61E3985B8FF6}"/>
              </a:ext>
            </a:extLst>
          </p:cNvPr>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sz="2000" dirty="0"/>
              <a:t>P</a:t>
            </a:r>
            <a:r>
              <a:rPr lang="es-DO" sz="2000" dirty="0"/>
              <a:t>aso 2: Fase 2: Configuración del Firewall</a:t>
            </a:r>
            <a:br>
              <a:rPr lang="es-DO" sz="2000" dirty="0"/>
            </a:br>
            <a:r>
              <a:rPr lang="es-DO" sz="2000" dirty="0"/>
              <a:t>Objetivo: Fortalecer la seguridad del host mediante reglas restrictivas.</a:t>
            </a:r>
            <a:endParaRPr sz="2000" dirty="0"/>
          </a:p>
        </p:txBody>
      </p:sp>
      <p:sp>
        <p:nvSpPr>
          <p:cNvPr id="3" name="Marcador de texto 2">
            <a:extLst>
              <a:ext uri="{FF2B5EF4-FFF2-40B4-BE49-F238E27FC236}">
                <a16:creationId xmlns:a16="http://schemas.microsoft.com/office/drawing/2014/main" id="{DBB7C47A-EAC6-6C82-7F35-AA9574294AB4}"/>
              </a:ext>
            </a:extLst>
          </p:cNvPr>
          <p:cNvSpPr>
            <a:spLocks noGrp="1"/>
          </p:cNvSpPr>
          <p:nvPr>
            <p:ph type="body" idx="1"/>
          </p:nvPr>
        </p:nvSpPr>
        <p:spPr>
          <a:xfrm>
            <a:off x="838200" y="1506072"/>
            <a:ext cx="10515600" cy="5154704"/>
          </a:xfrm>
        </p:spPr>
        <p:txBody>
          <a:bodyPr>
            <a:normAutofit/>
          </a:bodyPr>
          <a:lstStyle/>
          <a:p>
            <a:pPr marL="114300" indent="0">
              <a:buNone/>
            </a:pPr>
            <a:endParaRPr lang="es-DO" sz="800" dirty="0"/>
          </a:p>
        </p:txBody>
      </p:sp>
      <p:pic>
        <p:nvPicPr>
          <p:cNvPr id="4" name="Imagen 3">
            <a:extLst>
              <a:ext uri="{FF2B5EF4-FFF2-40B4-BE49-F238E27FC236}">
                <a16:creationId xmlns:a16="http://schemas.microsoft.com/office/drawing/2014/main" id="{C164C942-4930-C82F-670F-6E7EF145B3AA}"/>
              </a:ext>
            </a:extLst>
          </p:cNvPr>
          <p:cNvPicPr>
            <a:picLocks noChangeAspect="1"/>
          </p:cNvPicPr>
          <p:nvPr/>
        </p:nvPicPr>
        <p:blipFill>
          <a:blip r:embed="rId3"/>
          <a:stretch>
            <a:fillRect/>
          </a:stretch>
        </p:blipFill>
        <p:spPr>
          <a:xfrm>
            <a:off x="838200" y="1825625"/>
            <a:ext cx="9044298" cy="1410341"/>
          </a:xfrm>
          <a:prstGeom prst="rect">
            <a:avLst/>
          </a:prstGeom>
        </p:spPr>
      </p:pic>
    </p:spTree>
    <p:extLst>
      <p:ext uri="{BB962C8B-B14F-4D97-AF65-F5344CB8AC3E}">
        <p14:creationId xmlns:p14="http://schemas.microsoft.com/office/powerpoint/2010/main" val="32320678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C6EE2707-2409-93BC-5BAA-269DA2A52019}"/>
            </a:ext>
          </a:extLst>
        </p:cNvPr>
        <p:cNvGrpSpPr/>
        <p:nvPr/>
      </p:nvGrpSpPr>
      <p:grpSpPr>
        <a:xfrm>
          <a:off x="0" y="0"/>
          <a:ext cx="0" cy="0"/>
          <a:chOff x="0" y="0"/>
          <a:chExt cx="0" cy="0"/>
        </a:xfrm>
      </p:grpSpPr>
      <p:sp>
        <p:nvSpPr>
          <p:cNvPr id="97" name="Google Shape;97;g3da83fdd6a8_0_0">
            <a:extLst>
              <a:ext uri="{FF2B5EF4-FFF2-40B4-BE49-F238E27FC236}">
                <a16:creationId xmlns:a16="http://schemas.microsoft.com/office/drawing/2014/main" id="{6E754E73-78BD-002E-C5CB-B8AFCB32EDDE}"/>
              </a:ext>
            </a:extLst>
          </p:cNvPr>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sz="2000" dirty="0"/>
              <a:t>P</a:t>
            </a:r>
            <a:r>
              <a:rPr lang="es-DO" sz="2000" dirty="0"/>
              <a:t>aso 3: Fase 3: Bloqueo de Servicios Inseguros </a:t>
            </a:r>
            <a:br>
              <a:rPr lang="es-DO" sz="2000" dirty="0"/>
            </a:br>
            <a:r>
              <a:rPr lang="es-DO" sz="2000" dirty="0"/>
              <a:t>Objetivo: Reducir la exposición a ataques comunes como WannaCry,EternalBlue y movimiento lateral en la red de </a:t>
            </a:r>
            <a:r>
              <a:rPr lang="es-DO" sz="2000" dirty="0" err="1"/>
              <a:t>Wind</a:t>
            </a:r>
            <a:r>
              <a:rPr lang="es-DO" sz="2000" dirty="0"/>
              <a:t> Telecom.</a:t>
            </a:r>
            <a:endParaRPr sz="2000" dirty="0"/>
          </a:p>
        </p:txBody>
      </p:sp>
      <p:sp>
        <p:nvSpPr>
          <p:cNvPr id="3" name="Marcador de texto 2">
            <a:extLst>
              <a:ext uri="{FF2B5EF4-FFF2-40B4-BE49-F238E27FC236}">
                <a16:creationId xmlns:a16="http://schemas.microsoft.com/office/drawing/2014/main" id="{E1B9B8BC-83B0-147E-8BEB-6EACEF8E6938}"/>
              </a:ext>
            </a:extLst>
          </p:cNvPr>
          <p:cNvSpPr>
            <a:spLocks noGrp="1"/>
          </p:cNvSpPr>
          <p:nvPr>
            <p:ph type="body" idx="1"/>
          </p:nvPr>
        </p:nvSpPr>
        <p:spPr>
          <a:xfrm>
            <a:off x="838200" y="1479176"/>
            <a:ext cx="10515600" cy="5280212"/>
          </a:xfrm>
        </p:spPr>
        <p:txBody>
          <a:bodyPr>
            <a:normAutofit/>
          </a:bodyPr>
          <a:lstStyle/>
          <a:p>
            <a:pPr marL="114300" indent="0">
              <a:buNone/>
            </a:pPr>
            <a:endParaRPr lang="es-DO" sz="800" dirty="0"/>
          </a:p>
        </p:txBody>
      </p:sp>
      <p:pic>
        <p:nvPicPr>
          <p:cNvPr id="5" name="Imagen 4">
            <a:extLst>
              <a:ext uri="{FF2B5EF4-FFF2-40B4-BE49-F238E27FC236}">
                <a16:creationId xmlns:a16="http://schemas.microsoft.com/office/drawing/2014/main" id="{DCD7F2D4-5422-BF85-93FA-7901031DAD03}"/>
              </a:ext>
            </a:extLst>
          </p:cNvPr>
          <p:cNvPicPr>
            <a:picLocks noChangeAspect="1"/>
          </p:cNvPicPr>
          <p:nvPr/>
        </p:nvPicPr>
        <p:blipFill>
          <a:blip r:embed="rId3"/>
          <a:stretch>
            <a:fillRect/>
          </a:stretch>
        </p:blipFill>
        <p:spPr>
          <a:xfrm>
            <a:off x="71718" y="2187389"/>
            <a:ext cx="12039600" cy="1754492"/>
          </a:xfrm>
          <a:prstGeom prst="rect">
            <a:avLst/>
          </a:prstGeom>
        </p:spPr>
      </p:pic>
    </p:spTree>
    <p:extLst>
      <p:ext uri="{BB962C8B-B14F-4D97-AF65-F5344CB8AC3E}">
        <p14:creationId xmlns:p14="http://schemas.microsoft.com/office/powerpoint/2010/main" val="27392617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950E7B10-DEBD-4284-DB6E-F79B6831EF3F}"/>
            </a:ext>
          </a:extLst>
        </p:cNvPr>
        <p:cNvGrpSpPr/>
        <p:nvPr/>
      </p:nvGrpSpPr>
      <p:grpSpPr>
        <a:xfrm>
          <a:off x="0" y="0"/>
          <a:ext cx="0" cy="0"/>
          <a:chOff x="0" y="0"/>
          <a:chExt cx="0" cy="0"/>
        </a:xfrm>
      </p:grpSpPr>
      <p:sp>
        <p:nvSpPr>
          <p:cNvPr id="97" name="Google Shape;97;g3da83fdd6a8_0_0">
            <a:extLst>
              <a:ext uri="{FF2B5EF4-FFF2-40B4-BE49-F238E27FC236}">
                <a16:creationId xmlns:a16="http://schemas.microsoft.com/office/drawing/2014/main" id="{00D794DB-2EC1-1041-E05E-F087FE28FF3E}"/>
              </a:ext>
            </a:extLst>
          </p:cNvPr>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sz="2000" dirty="0"/>
              <a:t>P</a:t>
            </a:r>
            <a:r>
              <a:rPr lang="es-DO" sz="2000" dirty="0"/>
              <a:t>aso 4: Fase 4: Protección de Interfaces y </a:t>
            </a:r>
            <a:r>
              <a:rPr lang="es-DO" sz="2000" dirty="0" err="1"/>
              <a:t>Wi</a:t>
            </a:r>
            <a:r>
              <a:rPr lang="es-DO" sz="2000" dirty="0"/>
              <a:t>-Fi</a:t>
            </a:r>
            <a:br>
              <a:rPr lang="es-DO" sz="2000" dirty="0"/>
            </a:br>
            <a:r>
              <a:rPr lang="es-DO" sz="2000" dirty="0"/>
              <a:t>Objetivo: Eliminar vectores de acceso innecesarios.</a:t>
            </a:r>
            <a:endParaRPr sz="2000" dirty="0"/>
          </a:p>
        </p:txBody>
      </p:sp>
      <p:sp>
        <p:nvSpPr>
          <p:cNvPr id="3" name="Marcador de texto 2">
            <a:extLst>
              <a:ext uri="{FF2B5EF4-FFF2-40B4-BE49-F238E27FC236}">
                <a16:creationId xmlns:a16="http://schemas.microsoft.com/office/drawing/2014/main" id="{EEDF8142-9435-7B54-5EDF-4A4A401E2004}"/>
              </a:ext>
            </a:extLst>
          </p:cNvPr>
          <p:cNvSpPr>
            <a:spLocks noGrp="1"/>
          </p:cNvSpPr>
          <p:nvPr>
            <p:ph type="body" idx="1"/>
          </p:nvPr>
        </p:nvSpPr>
        <p:spPr>
          <a:xfrm>
            <a:off x="2393576" y="2519081"/>
            <a:ext cx="6338048" cy="2366683"/>
          </a:xfrm>
        </p:spPr>
        <p:txBody>
          <a:bodyPr>
            <a:normAutofit/>
          </a:bodyPr>
          <a:lstStyle/>
          <a:p>
            <a:pPr marL="114300" indent="0">
              <a:buNone/>
            </a:pPr>
            <a:endParaRPr lang="es-DO" sz="800" dirty="0"/>
          </a:p>
        </p:txBody>
      </p:sp>
      <p:pic>
        <p:nvPicPr>
          <p:cNvPr id="4" name="Imagen 3">
            <a:extLst>
              <a:ext uri="{FF2B5EF4-FFF2-40B4-BE49-F238E27FC236}">
                <a16:creationId xmlns:a16="http://schemas.microsoft.com/office/drawing/2014/main" id="{748BCCA9-AC37-2DF9-CCDD-F1EE031844AA}"/>
              </a:ext>
            </a:extLst>
          </p:cNvPr>
          <p:cNvPicPr>
            <a:picLocks noChangeAspect="1"/>
          </p:cNvPicPr>
          <p:nvPr/>
        </p:nvPicPr>
        <p:blipFill>
          <a:blip r:embed="rId3"/>
          <a:stretch>
            <a:fillRect/>
          </a:stretch>
        </p:blipFill>
        <p:spPr>
          <a:xfrm>
            <a:off x="1753328" y="2490654"/>
            <a:ext cx="5794953" cy="1211768"/>
          </a:xfrm>
          <a:prstGeom prst="rect">
            <a:avLst/>
          </a:prstGeom>
        </p:spPr>
      </p:pic>
    </p:spTree>
    <p:extLst>
      <p:ext uri="{BB962C8B-B14F-4D97-AF65-F5344CB8AC3E}">
        <p14:creationId xmlns:p14="http://schemas.microsoft.com/office/powerpoint/2010/main" val="21487285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D2230A89-D26D-10FD-C33E-EBEAC03274E6}"/>
            </a:ext>
          </a:extLst>
        </p:cNvPr>
        <p:cNvGrpSpPr/>
        <p:nvPr/>
      </p:nvGrpSpPr>
      <p:grpSpPr>
        <a:xfrm>
          <a:off x="0" y="0"/>
          <a:ext cx="0" cy="0"/>
          <a:chOff x="0" y="0"/>
          <a:chExt cx="0" cy="0"/>
        </a:xfrm>
      </p:grpSpPr>
      <p:sp>
        <p:nvSpPr>
          <p:cNvPr id="97" name="Google Shape;97;g3da83fdd6a8_0_0">
            <a:extLst>
              <a:ext uri="{FF2B5EF4-FFF2-40B4-BE49-F238E27FC236}">
                <a16:creationId xmlns:a16="http://schemas.microsoft.com/office/drawing/2014/main" id="{BEEA558E-248D-55B2-2952-27BEFF1E67CB}"/>
              </a:ext>
            </a:extLst>
          </p:cNvPr>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s-ES" sz="2000" dirty="0"/>
              <a:t>P</a:t>
            </a:r>
            <a:r>
              <a:rPr lang="es-DO" sz="2000" dirty="0"/>
              <a:t>aso 5: Fase 5: Auditoria y </a:t>
            </a:r>
            <a:r>
              <a:rPr lang="es-DO" sz="2000" dirty="0" err="1"/>
              <a:t>Logging</a:t>
            </a:r>
            <a:br>
              <a:rPr lang="es-DO" sz="2000" dirty="0"/>
            </a:br>
            <a:r>
              <a:rPr lang="es-DO" sz="2000" dirty="0"/>
              <a:t>Objetivo: Registrar eventos del firewall para monitoreo y análisis de seguridad continuo.</a:t>
            </a:r>
            <a:endParaRPr sz="2000" dirty="0"/>
          </a:p>
        </p:txBody>
      </p:sp>
      <p:sp>
        <p:nvSpPr>
          <p:cNvPr id="3" name="Marcador de texto 2">
            <a:extLst>
              <a:ext uri="{FF2B5EF4-FFF2-40B4-BE49-F238E27FC236}">
                <a16:creationId xmlns:a16="http://schemas.microsoft.com/office/drawing/2014/main" id="{6C4D9259-D1FF-9A74-C989-BD1BF8D5B962}"/>
              </a:ext>
            </a:extLst>
          </p:cNvPr>
          <p:cNvSpPr>
            <a:spLocks noGrp="1"/>
          </p:cNvSpPr>
          <p:nvPr>
            <p:ph type="body" idx="1"/>
          </p:nvPr>
        </p:nvSpPr>
        <p:spPr>
          <a:xfrm>
            <a:off x="2393576" y="2519081"/>
            <a:ext cx="6338048" cy="2366683"/>
          </a:xfrm>
        </p:spPr>
        <p:txBody>
          <a:bodyPr>
            <a:normAutofit/>
          </a:bodyPr>
          <a:lstStyle/>
          <a:p>
            <a:pPr marL="114300" indent="0">
              <a:buNone/>
            </a:pPr>
            <a:endParaRPr lang="es-DO" sz="800" dirty="0"/>
          </a:p>
        </p:txBody>
      </p:sp>
      <p:pic>
        <p:nvPicPr>
          <p:cNvPr id="5" name="Imagen 4">
            <a:extLst>
              <a:ext uri="{FF2B5EF4-FFF2-40B4-BE49-F238E27FC236}">
                <a16:creationId xmlns:a16="http://schemas.microsoft.com/office/drawing/2014/main" id="{55E646B8-28D2-CA3B-A290-69F56EA1AF1A}"/>
              </a:ext>
            </a:extLst>
          </p:cNvPr>
          <p:cNvPicPr>
            <a:picLocks noChangeAspect="1"/>
          </p:cNvPicPr>
          <p:nvPr/>
        </p:nvPicPr>
        <p:blipFill>
          <a:blip r:embed="rId3"/>
          <a:stretch>
            <a:fillRect/>
          </a:stretch>
        </p:blipFill>
        <p:spPr>
          <a:xfrm>
            <a:off x="599308" y="2420471"/>
            <a:ext cx="10993384" cy="1622977"/>
          </a:xfrm>
          <a:prstGeom prst="rect">
            <a:avLst/>
          </a:prstGeom>
        </p:spPr>
      </p:pic>
    </p:spTree>
    <p:extLst>
      <p:ext uri="{BB962C8B-B14F-4D97-AF65-F5344CB8AC3E}">
        <p14:creationId xmlns:p14="http://schemas.microsoft.com/office/powerpoint/2010/main" val="12857919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0A4666A9-DD31-CFF2-1B73-07FF797C81A1}"/>
            </a:ext>
          </a:extLst>
        </p:cNvPr>
        <p:cNvGrpSpPr/>
        <p:nvPr/>
      </p:nvGrpSpPr>
      <p:grpSpPr>
        <a:xfrm>
          <a:off x="0" y="0"/>
          <a:ext cx="0" cy="0"/>
          <a:chOff x="0" y="0"/>
          <a:chExt cx="0" cy="0"/>
        </a:xfrm>
      </p:grpSpPr>
      <p:sp>
        <p:nvSpPr>
          <p:cNvPr id="97" name="Google Shape;97;g3da83fdd6a8_0_0">
            <a:extLst>
              <a:ext uri="{FF2B5EF4-FFF2-40B4-BE49-F238E27FC236}">
                <a16:creationId xmlns:a16="http://schemas.microsoft.com/office/drawing/2014/main" id="{DD48580A-0C8A-486E-1BFB-9A73DACFB5C9}"/>
              </a:ext>
            </a:extLst>
          </p:cNvPr>
          <p:cNvSpPr txBox="1">
            <a:spLocks noGrp="1"/>
          </p:cNvSpPr>
          <p:nvPr>
            <p:ph type="title"/>
          </p:nvPr>
        </p:nvSpPr>
        <p:spPr>
          <a:xfrm>
            <a:off x="838200" y="365125"/>
            <a:ext cx="10515600" cy="504451"/>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4400"/>
              <a:buFont typeface="Calibri"/>
              <a:buNone/>
            </a:pPr>
            <a:r>
              <a:rPr lang="es-ES" sz="2000" dirty="0"/>
              <a:t>P</a:t>
            </a:r>
            <a:r>
              <a:rPr lang="es-DO" sz="2000" dirty="0"/>
              <a:t>aso 6: Fase 6: Verificación y Auditoria </a:t>
            </a:r>
            <a:br>
              <a:rPr lang="es-DO" sz="2000" dirty="0"/>
            </a:br>
            <a:r>
              <a:rPr lang="es-DO" sz="2000" dirty="0"/>
              <a:t>Objetivo: Comprobar que las configuraciones fueron aplicadas correctamente.</a:t>
            </a:r>
            <a:endParaRPr sz="2000" dirty="0"/>
          </a:p>
        </p:txBody>
      </p:sp>
      <p:sp>
        <p:nvSpPr>
          <p:cNvPr id="3" name="Marcador de texto 2">
            <a:extLst>
              <a:ext uri="{FF2B5EF4-FFF2-40B4-BE49-F238E27FC236}">
                <a16:creationId xmlns:a16="http://schemas.microsoft.com/office/drawing/2014/main" id="{FAE60294-D4B7-37F7-2DD5-24054C954298}"/>
              </a:ext>
            </a:extLst>
          </p:cNvPr>
          <p:cNvSpPr>
            <a:spLocks noGrp="1"/>
          </p:cNvSpPr>
          <p:nvPr>
            <p:ph type="body" idx="1"/>
          </p:nvPr>
        </p:nvSpPr>
        <p:spPr>
          <a:xfrm>
            <a:off x="2393576" y="2519081"/>
            <a:ext cx="6338048" cy="2366683"/>
          </a:xfrm>
        </p:spPr>
        <p:txBody>
          <a:bodyPr>
            <a:normAutofit/>
          </a:bodyPr>
          <a:lstStyle/>
          <a:p>
            <a:pPr marL="114300" indent="0">
              <a:buNone/>
            </a:pPr>
            <a:endParaRPr lang="es-DO" sz="800" dirty="0"/>
          </a:p>
        </p:txBody>
      </p:sp>
      <p:pic>
        <p:nvPicPr>
          <p:cNvPr id="4" name="Imagen 3">
            <a:extLst>
              <a:ext uri="{FF2B5EF4-FFF2-40B4-BE49-F238E27FC236}">
                <a16:creationId xmlns:a16="http://schemas.microsoft.com/office/drawing/2014/main" id="{F03D1693-88CD-0552-A148-29443E761162}"/>
              </a:ext>
            </a:extLst>
          </p:cNvPr>
          <p:cNvPicPr>
            <a:picLocks noChangeAspect="1"/>
          </p:cNvPicPr>
          <p:nvPr/>
        </p:nvPicPr>
        <p:blipFill>
          <a:blip r:embed="rId3"/>
          <a:stretch>
            <a:fillRect/>
          </a:stretch>
        </p:blipFill>
        <p:spPr>
          <a:xfrm>
            <a:off x="1541930" y="1033370"/>
            <a:ext cx="8180746" cy="5824630"/>
          </a:xfrm>
          <a:prstGeom prst="rect">
            <a:avLst/>
          </a:prstGeom>
        </p:spPr>
      </p:pic>
    </p:spTree>
    <p:extLst>
      <p:ext uri="{BB962C8B-B14F-4D97-AF65-F5344CB8AC3E}">
        <p14:creationId xmlns:p14="http://schemas.microsoft.com/office/powerpoint/2010/main" val="7824727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26580B2F-F50E-F838-EDC3-2C79D7C47560}"/>
            </a:ext>
          </a:extLst>
        </p:cNvPr>
        <p:cNvGrpSpPr/>
        <p:nvPr/>
      </p:nvGrpSpPr>
      <p:grpSpPr>
        <a:xfrm>
          <a:off x="0" y="0"/>
          <a:ext cx="0" cy="0"/>
          <a:chOff x="0" y="0"/>
          <a:chExt cx="0" cy="0"/>
        </a:xfrm>
      </p:grpSpPr>
      <p:sp>
        <p:nvSpPr>
          <p:cNvPr id="97" name="Google Shape;97;g3da83fdd6a8_0_0">
            <a:extLst>
              <a:ext uri="{FF2B5EF4-FFF2-40B4-BE49-F238E27FC236}">
                <a16:creationId xmlns:a16="http://schemas.microsoft.com/office/drawing/2014/main" id="{D42E34DD-64A6-6E68-1310-02E90CE20A4A}"/>
              </a:ext>
            </a:extLst>
          </p:cNvPr>
          <p:cNvSpPr txBox="1">
            <a:spLocks noGrp="1"/>
          </p:cNvSpPr>
          <p:nvPr>
            <p:ph type="title"/>
          </p:nvPr>
        </p:nvSpPr>
        <p:spPr>
          <a:xfrm>
            <a:off x="838200" y="365125"/>
            <a:ext cx="10515600" cy="51341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4400"/>
              <a:buFont typeface="Calibri"/>
              <a:buNone/>
            </a:pPr>
            <a:r>
              <a:rPr lang="es-ES" sz="2000" dirty="0"/>
              <a:t>P</a:t>
            </a:r>
            <a:r>
              <a:rPr lang="es-DO" sz="2000" dirty="0"/>
              <a:t>aso 6: Fase 6: Verificación y Auditoria </a:t>
            </a:r>
            <a:br>
              <a:rPr lang="es-DO" sz="2000" dirty="0"/>
            </a:br>
            <a:r>
              <a:rPr lang="es-DO" sz="2000" dirty="0"/>
              <a:t>Objetivo: Comprobar que las configuraciones fueron aplicadas correctamente.</a:t>
            </a:r>
            <a:endParaRPr sz="2000" dirty="0"/>
          </a:p>
        </p:txBody>
      </p:sp>
      <p:sp>
        <p:nvSpPr>
          <p:cNvPr id="3" name="Marcador de texto 2">
            <a:extLst>
              <a:ext uri="{FF2B5EF4-FFF2-40B4-BE49-F238E27FC236}">
                <a16:creationId xmlns:a16="http://schemas.microsoft.com/office/drawing/2014/main" id="{BF99DD45-D967-BDBE-9BF9-269538B22B9F}"/>
              </a:ext>
            </a:extLst>
          </p:cNvPr>
          <p:cNvSpPr>
            <a:spLocks noGrp="1"/>
          </p:cNvSpPr>
          <p:nvPr>
            <p:ph type="body" idx="1"/>
          </p:nvPr>
        </p:nvSpPr>
        <p:spPr>
          <a:xfrm>
            <a:off x="2393576" y="2519081"/>
            <a:ext cx="6338048" cy="2366683"/>
          </a:xfrm>
        </p:spPr>
        <p:txBody>
          <a:bodyPr>
            <a:normAutofit/>
          </a:bodyPr>
          <a:lstStyle/>
          <a:p>
            <a:pPr marL="114300" indent="0">
              <a:buNone/>
            </a:pPr>
            <a:endParaRPr lang="es-DO" sz="800" dirty="0"/>
          </a:p>
        </p:txBody>
      </p:sp>
      <p:pic>
        <p:nvPicPr>
          <p:cNvPr id="5" name="Imagen 4">
            <a:extLst>
              <a:ext uri="{FF2B5EF4-FFF2-40B4-BE49-F238E27FC236}">
                <a16:creationId xmlns:a16="http://schemas.microsoft.com/office/drawing/2014/main" id="{115A1A89-22F7-A66C-63A2-6D03BC52F0AC}"/>
              </a:ext>
            </a:extLst>
          </p:cNvPr>
          <p:cNvPicPr>
            <a:picLocks noChangeAspect="1"/>
          </p:cNvPicPr>
          <p:nvPr/>
        </p:nvPicPr>
        <p:blipFill>
          <a:blip r:embed="rId3"/>
          <a:stretch>
            <a:fillRect/>
          </a:stretch>
        </p:blipFill>
        <p:spPr>
          <a:xfrm>
            <a:off x="2079812" y="878540"/>
            <a:ext cx="6562123" cy="5979459"/>
          </a:xfrm>
          <a:prstGeom prst="rect">
            <a:avLst/>
          </a:prstGeom>
        </p:spPr>
      </p:pic>
    </p:spTree>
    <p:extLst>
      <p:ext uri="{BB962C8B-B14F-4D97-AF65-F5344CB8AC3E}">
        <p14:creationId xmlns:p14="http://schemas.microsoft.com/office/powerpoint/2010/main" val="25883306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23DEF746-FFE6-03E0-9D6A-45E4EDA112A8}"/>
            </a:ext>
          </a:extLst>
        </p:cNvPr>
        <p:cNvGrpSpPr/>
        <p:nvPr/>
      </p:nvGrpSpPr>
      <p:grpSpPr>
        <a:xfrm>
          <a:off x="0" y="0"/>
          <a:ext cx="0" cy="0"/>
          <a:chOff x="0" y="0"/>
          <a:chExt cx="0" cy="0"/>
        </a:xfrm>
      </p:grpSpPr>
      <p:sp>
        <p:nvSpPr>
          <p:cNvPr id="97" name="Google Shape;97;g3da83fdd6a8_0_0">
            <a:extLst>
              <a:ext uri="{FF2B5EF4-FFF2-40B4-BE49-F238E27FC236}">
                <a16:creationId xmlns:a16="http://schemas.microsoft.com/office/drawing/2014/main" id="{694A98CB-4E48-BB80-4545-F6AA742921DC}"/>
              </a:ext>
            </a:extLst>
          </p:cNvPr>
          <p:cNvSpPr txBox="1">
            <a:spLocks noGrp="1"/>
          </p:cNvSpPr>
          <p:nvPr>
            <p:ph type="title"/>
          </p:nvPr>
        </p:nvSpPr>
        <p:spPr>
          <a:xfrm>
            <a:off x="838200" y="365125"/>
            <a:ext cx="10515600" cy="51341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4400"/>
              <a:buFont typeface="Calibri"/>
              <a:buNone/>
            </a:pPr>
            <a:r>
              <a:rPr lang="es-ES" sz="2000" dirty="0"/>
              <a:t>P</a:t>
            </a:r>
            <a:r>
              <a:rPr lang="es-DO" sz="2000" dirty="0"/>
              <a:t>aso 6: Fase 6: Verificación y Auditoria </a:t>
            </a:r>
            <a:br>
              <a:rPr lang="es-DO" sz="2000" dirty="0"/>
            </a:br>
            <a:r>
              <a:rPr lang="es-DO" sz="2000" dirty="0"/>
              <a:t>Objetivo: Comprobar que las configuraciones fueron aplicadas correctamente.</a:t>
            </a:r>
            <a:endParaRPr sz="2000" dirty="0"/>
          </a:p>
        </p:txBody>
      </p:sp>
      <p:sp>
        <p:nvSpPr>
          <p:cNvPr id="3" name="Marcador de texto 2">
            <a:extLst>
              <a:ext uri="{FF2B5EF4-FFF2-40B4-BE49-F238E27FC236}">
                <a16:creationId xmlns:a16="http://schemas.microsoft.com/office/drawing/2014/main" id="{55469909-5CC3-2D6B-EBCB-865C21DFBD1B}"/>
              </a:ext>
            </a:extLst>
          </p:cNvPr>
          <p:cNvSpPr>
            <a:spLocks noGrp="1"/>
          </p:cNvSpPr>
          <p:nvPr>
            <p:ph type="body" idx="1"/>
          </p:nvPr>
        </p:nvSpPr>
        <p:spPr>
          <a:xfrm>
            <a:off x="2393576" y="2519081"/>
            <a:ext cx="6338048" cy="2366683"/>
          </a:xfrm>
        </p:spPr>
        <p:txBody>
          <a:bodyPr>
            <a:normAutofit/>
          </a:bodyPr>
          <a:lstStyle/>
          <a:p>
            <a:pPr marL="114300" indent="0">
              <a:buNone/>
            </a:pPr>
            <a:endParaRPr lang="es-DO" sz="800" dirty="0"/>
          </a:p>
        </p:txBody>
      </p:sp>
      <p:pic>
        <p:nvPicPr>
          <p:cNvPr id="4" name="Imagen 3">
            <a:extLst>
              <a:ext uri="{FF2B5EF4-FFF2-40B4-BE49-F238E27FC236}">
                <a16:creationId xmlns:a16="http://schemas.microsoft.com/office/drawing/2014/main" id="{3B68E40C-8709-12FA-972B-C4BF100B0658}"/>
              </a:ext>
            </a:extLst>
          </p:cNvPr>
          <p:cNvPicPr>
            <a:picLocks noChangeAspect="1"/>
          </p:cNvPicPr>
          <p:nvPr/>
        </p:nvPicPr>
        <p:blipFill>
          <a:blip r:embed="rId3"/>
          <a:stretch>
            <a:fillRect/>
          </a:stretch>
        </p:blipFill>
        <p:spPr>
          <a:xfrm>
            <a:off x="1385454" y="968188"/>
            <a:ext cx="9685957" cy="5889812"/>
          </a:xfrm>
          <a:prstGeom prst="rect">
            <a:avLst/>
          </a:prstGeom>
        </p:spPr>
      </p:pic>
    </p:spTree>
    <p:extLst>
      <p:ext uri="{BB962C8B-B14F-4D97-AF65-F5344CB8AC3E}">
        <p14:creationId xmlns:p14="http://schemas.microsoft.com/office/powerpoint/2010/main" val="6311994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593B10FE-D692-C66C-7CBB-B61CD5E3C14D}"/>
            </a:ext>
          </a:extLst>
        </p:cNvPr>
        <p:cNvGrpSpPr/>
        <p:nvPr/>
      </p:nvGrpSpPr>
      <p:grpSpPr>
        <a:xfrm>
          <a:off x="0" y="0"/>
          <a:ext cx="0" cy="0"/>
          <a:chOff x="0" y="0"/>
          <a:chExt cx="0" cy="0"/>
        </a:xfrm>
      </p:grpSpPr>
      <p:sp>
        <p:nvSpPr>
          <p:cNvPr id="97" name="Google Shape;97;g3da83fdd6a8_0_0">
            <a:extLst>
              <a:ext uri="{FF2B5EF4-FFF2-40B4-BE49-F238E27FC236}">
                <a16:creationId xmlns:a16="http://schemas.microsoft.com/office/drawing/2014/main" id="{5EB021C4-4EC4-65E6-33A2-BAA05BD58F52}"/>
              </a:ext>
            </a:extLst>
          </p:cNvPr>
          <p:cNvSpPr txBox="1">
            <a:spLocks noGrp="1"/>
          </p:cNvSpPr>
          <p:nvPr>
            <p:ph type="title"/>
          </p:nvPr>
        </p:nvSpPr>
        <p:spPr>
          <a:xfrm>
            <a:off x="838200" y="365125"/>
            <a:ext cx="10515600" cy="51341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4400"/>
              <a:buFont typeface="Calibri"/>
              <a:buNone/>
            </a:pPr>
            <a:r>
              <a:rPr lang="es-ES" sz="2000" dirty="0"/>
              <a:t>P</a:t>
            </a:r>
            <a:r>
              <a:rPr lang="es-DO" sz="2000" dirty="0"/>
              <a:t>aso 6: Fase 6: Verificación y Auditoria </a:t>
            </a:r>
            <a:br>
              <a:rPr lang="es-DO" sz="2000" dirty="0"/>
            </a:br>
            <a:r>
              <a:rPr lang="es-DO" sz="2000" dirty="0"/>
              <a:t>Objetivo: Comprobar que las configuraciones fueron aplicadas correctamente.</a:t>
            </a:r>
            <a:endParaRPr sz="2000" dirty="0"/>
          </a:p>
        </p:txBody>
      </p:sp>
      <p:sp>
        <p:nvSpPr>
          <p:cNvPr id="3" name="Marcador de texto 2">
            <a:extLst>
              <a:ext uri="{FF2B5EF4-FFF2-40B4-BE49-F238E27FC236}">
                <a16:creationId xmlns:a16="http://schemas.microsoft.com/office/drawing/2014/main" id="{635BFFC1-3B43-D419-1E79-35943B3F026C}"/>
              </a:ext>
            </a:extLst>
          </p:cNvPr>
          <p:cNvSpPr>
            <a:spLocks noGrp="1"/>
          </p:cNvSpPr>
          <p:nvPr>
            <p:ph type="body" idx="1"/>
          </p:nvPr>
        </p:nvSpPr>
        <p:spPr>
          <a:xfrm>
            <a:off x="2393576" y="2519081"/>
            <a:ext cx="6338048" cy="2366683"/>
          </a:xfrm>
        </p:spPr>
        <p:txBody>
          <a:bodyPr>
            <a:normAutofit/>
          </a:bodyPr>
          <a:lstStyle/>
          <a:p>
            <a:pPr marL="114300" indent="0">
              <a:buNone/>
            </a:pPr>
            <a:endParaRPr lang="es-DO" sz="800" dirty="0"/>
          </a:p>
        </p:txBody>
      </p:sp>
      <p:pic>
        <p:nvPicPr>
          <p:cNvPr id="5" name="Imagen 4">
            <a:extLst>
              <a:ext uri="{FF2B5EF4-FFF2-40B4-BE49-F238E27FC236}">
                <a16:creationId xmlns:a16="http://schemas.microsoft.com/office/drawing/2014/main" id="{571C3785-8805-2B9E-A2CB-D8DCCCDDF644}"/>
              </a:ext>
            </a:extLst>
          </p:cNvPr>
          <p:cNvPicPr>
            <a:picLocks noChangeAspect="1"/>
          </p:cNvPicPr>
          <p:nvPr/>
        </p:nvPicPr>
        <p:blipFill>
          <a:blip r:embed="rId3"/>
          <a:stretch>
            <a:fillRect/>
          </a:stretch>
        </p:blipFill>
        <p:spPr>
          <a:xfrm>
            <a:off x="942256" y="1376076"/>
            <a:ext cx="10307488" cy="4105848"/>
          </a:xfrm>
          <a:prstGeom prst="rect">
            <a:avLst/>
          </a:prstGeom>
        </p:spPr>
      </p:pic>
    </p:spTree>
    <p:extLst>
      <p:ext uri="{BB962C8B-B14F-4D97-AF65-F5344CB8AC3E}">
        <p14:creationId xmlns:p14="http://schemas.microsoft.com/office/powerpoint/2010/main" val="38335340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28C1FB8A-EC0A-F49F-0984-544CD1D909B0}"/>
            </a:ext>
          </a:extLst>
        </p:cNvPr>
        <p:cNvGrpSpPr/>
        <p:nvPr/>
      </p:nvGrpSpPr>
      <p:grpSpPr>
        <a:xfrm>
          <a:off x="0" y="0"/>
          <a:ext cx="0" cy="0"/>
          <a:chOff x="0" y="0"/>
          <a:chExt cx="0" cy="0"/>
        </a:xfrm>
      </p:grpSpPr>
      <p:sp>
        <p:nvSpPr>
          <p:cNvPr id="97" name="Google Shape;97;g3da83fdd6a8_0_0">
            <a:extLst>
              <a:ext uri="{FF2B5EF4-FFF2-40B4-BE49-F238E27FC236}">
                <a16:creationId xmlns:a16="http://schemas.microsoft.com/office/drawing/2014/main" id="{BA150019-CB78-DD27-A185-0D56999F158E}"/>
              </a:ext>
            </a:extLst>
          </p:cNvPr>
          <p:cNvSpPr txBox="1">
            <a:spLocks noGrp="1"/>
          </p:cNvSpPr>
          <p:nvPr>
            <p:ph type="title"/>
          </p:nvPr>
        </p:nvSpPr>
        <p:spPr>
          <a:xfrm>
            <a:off x="838200" y="365125"/>
            <a:ext cx="10515600" cy="51341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4400"/>
              <a:buFont typeface="Calibri"/>
              <a:buNone/>
            </a:pPr>
            <a:r>
              <a:rPr lang="es-ES" sz="2000" dirty="0"/>
              <a:t>P</a:t>
            </a:r>
            <a:r>
              <a:rPr lang="es-DO" sz="2000" dirty="0"/>
              <a:t>aso 7: Fase 7: Prueba de Conectividad</a:t>
            </a:r>
            <a:br>
              <a:rPr lang="es-DO" sz="2000" dirty="0"/>
            </a:br>
            <a:r>
              <a:rPr lang="es-DO" sz="2000" dirty="0"/>
              <a:t>Objetivo: Validar el hardening aplicado mediante pruebas de red reales.</a:t>
            </a:r>
            <a:endParaRPr sz="2000" dirty="0"/>
          </a:p>
        </p:txBody>
      </p:sp>
      <p:sp>
        <p:nvSpPr>
          <p:cNvPr id="3" name="Marcador de texto 2">
            <a:extLst>
              <a:ext uri="{FF2B5EF4-FFF2-40B4-BE49-F238E27FC236}">
                <a16:creationId xmlns:a16="http://schemas.microsoft.com/office/drawing/2014/main" id="{4F339ED7-6720-07A3-8A68-A3B4D7ADCF48}"/>
              </a:ext>
            </a:extLst>
          </p:cNvPr>
          <p:cNvSpPr>
            <a:spLocks noGrp="1"/>
          </p:cNvSpPr>
          <p:nvPr>
            <p:ph type="body" idx="1"/>
          </p:nvPr>
        </p:nvSpPr>
        <p:spPr>
          <a:xfrm>
            <a:off x="2393576" y="2519081"/>
            <a:ext cx="6338048" cy="2366683"/>
          </a:xfrm>
        </p:spPr>
        <p:txBody>
          <a:bodyPr>
            <a:normAutofit/>
          </a:bodyPr>
          <a:lstStyle/>
          <a:p>
            <a:pPr marL="114300" indent="0">
              <a:buNone/>
            </a:pPr>
            <a:endParaRPr lang="es-DO" sz="800" dirty="0"/>
          </a:p>
        </p:txBody>
      </p:sp>
      <p:pic>
        <p:nvPicPr>
          <p:cNvPr id="4" name="Imagen 3">
            <a:extLst>
              <a:ext uri="{FF2B5EF4-FFF2-40B4-BE49-F238E27FC236}">
                <a16:creationId xmlns:a16="http://schemas.microsoft.com/office/drawing/2014/main" id="{1D23790E-1E85-5B71-5135-4DDF64A219C0}"/>
              </a:ext>
            </a:extLst>
          </p:cNvPr>
          <p:cNvPicPr>
            <a:picLocks noChangeAspect="1"/>
          </p:cNvPicPr>
          <p:nvPr/>
        </p:nvPicPr>
        <p:blipFill>
          <a:blip r:embed="rId3"/>
          <a:stretch>
            <a:fillRect/>
          </a:stretch>
        </p:blipFill>
        <p:spPr>
          <a:xfrm>
            <a:off x="2205318" y="1109339"/>
            <a:ext cx="6515186" cy="4639322"/>
          </a:xfrm>
          <a:prstGeom prst="rect">
            <a:avLst/>
          </a:prstGeom>
        </p:spPr>
      </p:pic>
    </p:spTree>
    <p:extLst>
      <p:ext uri="{BB962C8B-B14F-4D97-AF65-F5344CB8AC3E}">
        <p14:creationId xmlns:p14="http://schemas.microsoft.com/office/powerpoint/2010/main" val="29563334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s-DO" sz="2000" b="1" dirty="0"/>
              <a:t>Medidas a tomar para evitar la vulnerabilidad</a:t>
            </a:r>
            <a:endParaRPr sz="2000" b="1" dirty="0"/>
          </a:p>
        </p:txBody>
      </p:sp>
      <p:sp>
        <p:nvSpPr>
          <p:cNvPr id="104" name="Google Shape;104;p3"/>
          <p:cNvSpPr txBox="1">
            <a:spLocks noGrp="1"/>
          </p:cNvSpPr>
          <p:nvPr>
            <p:ph type="body" idx="1"/>
          </p:nvPr>
        </p:nvSpPr>
        <p:spPr>
          <a:xfrm>
            <a:off x="838200" y="1864659"/>
            <a:ext cx="10515600" cy="462821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s-DO" sz="1600" dirty="0"/>
              <a:t>1. Mantener el firewall de Windows activo en todos los perfiles usando Set-</a:t>
            </a:r>
            <a:r>
              <a:rPr lang="es-DO" sz="1600" dirty="0" err="1"/>
              <a:t>NetFirewallProfile</a:t>
            </a:r>
            <a:r>
              <a:rPr lang="es-DO" sz="1600" dirty="0"/>
              <a:t> –</a:t>
            </a:r>
            <a:r>
              <a:rPr lang="es-DO" sz="1600" dirty="0" err="1"/>
              <a:t>Enable</a:t>
            </a:r>
            <a:r>
              <a:rPr lang="es-DO" sz="1600" dirty="0"/>
              <a:t> True para proteger el sistema en cualquier entorno de red.</a:t>
            </a:r>
            <a:endParaRPr sz="1600" dirty="0"/>
          </a:p>
          <a:p>
            <a:pPr marL="0" lvl="0" indent="0" algn="l" rtl="0">
              <a:lnSpc>
                <a:spcPct val="90000"/>
              </a:lnSpc>
              <a:spcBef>
                <a:spcPts val="1000"/>
              </a:spcBef>
              <a:spcAft>
                <a:spcPts val="0"/>
              </a:spcAft>
              <a:buClr>
                <a:schemeClr val="dk1"/>
              </a:buClr>
              <a:buSzPts val="2800"/>
              <a:buNone/>
            </a:pPr>
            <a:r>
              <a:rPr lang="es-DO" sz="1600" dirty="0"/>
              <a:t>2. Bloquear puertos innecesarios como el puerto 445(SMB) usando New-</a:t>
            </a:r>
            <a:r>
              <a:rPr lang="es-DO" sz="1600" dirty="0" err="1"/>
              <a:t>NetFirewallRule</a:t>
            </a:r>
            <a:r>
              <a:rPr lang="es-DO" sz="1600" dirty="0"/>
              <a:t> para prevenir ataques como WannaCry y </a:t>
            </a:r>
            <a:r>
              <a:rPr lang="es-DO" sz="1600" dirty="0" err="1"/>
              <a:t>EternalBlue</a:t>
            </a:r>
            <a:r>
              <a:rPr lang="es-DO" sz="1600" dirty="0"/>
              <a:t>.</a:t>
            </a:r>
          </a:p>
          <a:p>
            <a:pPr marL="0" lvl="0" indent="0" algn="l" rtl="0">
              <a:lnSpc>
                <a:spcPct val="90000"/>
              </a:lnSpc>
              <a:spcBef>
                <a:spcPts val="1000"/>
              </a:spcBef>
              <a:spcAft>
                <a:spcPts val="0"/>
              </a:spcAft>
              <a:buClr>
                <a:schemeClr val="dk1"/>
              </a:buClr>
              <a:buSzPts val="2800"/>
              <a:buNone/>
            </a:pPr>
            <a:r>
              <a:rPr lang="es-DO" sz="1600" dirty="0"/>
              <a:t>3. Deshabilitar Network Discovery y File and </a:t>
            </a:r>
            <a:r>
              <a:rPr lang="es-DO" sz="1600" dirty="0" err="1"/>
              <a:t>Printer</a:t>
            </a:r>
            <a:r>
              <a:rPr lang="es-DO" sz="1600" dirty="0"/>
              <a:t> </a:t>
            </a:r>
            <a:r>
              <a:rPr lang="es-DO" sz="1600" dirty="0" err="1"/>
              <a:t>Sharing</a:t>
            </a:r>
            <a:r>
              <a:rPr lang="es-DO" sz="1600" dirty="0"/>
              <a:t> cuando no sean necesarios en el entorno de </a:t>
            </a:r>
            <a:r>
              <a:rPr lang="es-DO" sz="1600" dirty="0" err="1"/>
              <a:t>Wind</a:t>
            </a:r>
            <a:r>
              <a:rPr lang="es-DO" sz="1600" dirty="0"/>
              <a:t> Telecom.</a:t>
            </a:r>
          </a:p>
          <a:p>
            <a:pPr marL="0" lvl="0" indent="0" algn="l" rtl="0">
              <a:lnSpc>
                <a:spcPct val="90000"/>
              </a:lnSpc>
              <a:spcBef>
                <a:spcPts val="1000"/>
              </a:spcBef>
              <a:spcAft>
                <a:spcPts val="0"/>
              </a:spcAft>
              <a:buClr>
                <a:schemeClr val="dk1"/>
              </a:buClr>
              <a:buSzPts val="2800"/>
              <a:buNone/>
            </a:pPr>
            <a:r>
              <a:rPr lang="es-DO" sz="1600" dirty="0"/>
              <a:t>4. Habilitar el </a:t>
            </a:r>
            <a:r>
              <a:rPr lang="es-DO" sz="1600" dirty="0" err="1"/>
              <a:t>logging</a:t>
            </a:r>
            <a:r>
              <a:rPr lang="es-DO" sz="1600" dirty="0"/>
              <a:t> del firewall con Set-</a:t>
            </a:r>
            <a:r>
              <a:rPr lang="es-DO" sz="1600" dirty="0" err="1"/>
              <a:t>NetFirewallProfile</a:t>
            </a:r>
            <a:r>
              <a:rPr lang="es-DO" sz="1600" dirty="0"/>
              <a:t> –</a:t>
            </a:r>
            <a:r>
              <a:rPr lang="es-DO" sz="1600" dirty="0" err="1"/>
              <a:t>LogAllowed</a:t>
            </a:r>
            <a:r>
              <a:rPr lang="es-DO" sz="1600" dirty="0"/>
              <a:t> True –</a:t>
            </a:r>
            <a:r>
              <a:rPr lang="es-DO" sz="1600" dirty="0" err="1"/>
              <a:t>LogBlocked</a:t>
            </a:r>
            <a:r>
              <a:rPr lang="es-DO" sz="1600" dirty="0"/>
              <a:t> True para mantener trazabilidad de eventos.</a:t>
            </a:r>
            <a:endParaRPr dirty="0"/>
          </a:p>
          <a:p>
            <a:pPr marL="0" lvl="0" indent="0" algn="l" rtl="0">
              <a:lnSpc>
                <a:spcPct val="90000"/>
              </a:lnSpc>
              <a:spcBef>
                <a:spcPts val="1000"/>
              </a:spcBef>
              <a:spcAft>
                <a:spcPts val="0"/>
              </a:spcAft>
              <a:buClr>
                <a:schemeClr val="dk1"/>
              </a:buClr>
              <a:buSzPts val="2800"/>
              <a:buNone/>
            </a:pPr>
            <a:r>
              <a:rPr lang="es-DO" sz="1600" dirty="0"/>
              <a:t>5. Verificar conexiones activas y puertos en escucha regularmente usando </a:t>
            </a:r>
            <a:r>
              <a:rPr lang="es-DO" sz="1600" dirty="0" err="1"/>
              <a:t>Get-NetTCPConnection</a:t>
            </a:r>
            <a:r>
              <a:rPr lang="es-DO" sz="1600" dirty="0"/>
              <a:t> para detectar actividad sospechosa.</a:t>
            </a:r>
            <a:endParaRPr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4"/>
          <p:cNvSpPr txBox="1">
            <a:spLocks noGrp="1"/>
          </p:cNvSpPr>
          <p:nvPr>
            <p:ph type="title"/>
          </p:nvPr>
        </p:nvSpPr>
        <p:spPr>
          <a:xfrm>
            <a:off x="838200" y="365126"/>
            <a:ext cx="10515600" cy="1096122"/>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s-DO" sz="2000" b="1" dirty="0"/>
              <a:t>Resumen de lo aprendido</a:t>
            </a:r>
            <a:endParaRPr sz="2000" b="1" dirty="0"/>
          </a:p>
        </p:txBody>
      </p:sp>
      <p:sp>
        <p:nvSpPr>
          <p:cNvPr id="110" name="Google Shape;110;p4"/>
          <p:cNvSpPr txBox="1">
            <a:spLocks noGrp="1"/>
          </p:cNvSpPr>
          <p:nvPr>
            <p:ph type="body" idx="1"/>
          </p:nvPr>
        </p:nvSpPr>
        <p:spPr>
          <a:xfrm>
            <a:off x="838200" y="1825624"/>
            <a:ext cx="10515600" cy="478136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s-DO" sz="2000" dirty="0"/>
              <a:t>En esta practica, aprendí a realizar lo siguiente:</a:t>
            </a:r>
            <a:endParaRPr sz="2000" dirty="0"/>
          </a:p>
          <a:p>
            <a:pPr marL="0" lvl="0" indent="0" algn="l" rtl="0">
              <a:lnSpc>
                <a:spcPct val="90000"/>
              </a:lnSpc>
              <a:spcBef>
                <a:spcPts val="1000"/>
              </a:spcBef>
              <a:spcAft>
                <a:spcPts val="0"/>
              </a:spcAft>
              <a:buClr>
                <a:schemeClr val="dk1"/>
              </a:buClr>
              <a:buSzPts val="2800"/>
              <a:buNone/>
            </a:pPr>
            <a:r>
              <a:rPr lang="es-DO" sz="1600" dirty="0"/>
              <a:t>1. Configurar y administrar el Firewall de Windows usando </a:t>
            </a:r>
            <a:r>
              <a:rPr lang="es-DO" sz="1600" dirty="0" err="1"/>
              <a:t>cmdlets</a:t>
            </a:r>
            <a:r>
              <a:rPr lang="es-DO" sz="1600" dirty="0"/>
              <a:t> de PowerShell como Set-</a:t>
            </a:r>
            <a:r>
              <a:rPr lang="es-DO" sz="1600" dirty="0" err="1"/>
              <a:t>NetFirewallProfile</a:t>
            </a:r>
            <a:r>
              <a:rPr lang="es-DO" sz="1600" dirty="0"/>
              <a:t> y </a:t>
            </a:r>
            <a:r>
              <a:rPr lang="es-DO" sz="1600" dirty="0" err="1"/>
              <a:t>Get-NetFirewallProfile</a:t>
            </a:r>
            <a:r>
              <a:rPr lang="es-DO" sz="1600" dirty="0"/>
              <a:t> con privilegios de administrador.</a:t>
            </a:r>
            <a:endParaRPr sz="1600" dirty="0"/>
          </a:p>
          <a:p>
            <a:pPr marL="0" lvl="0" indent="0" algn="l" rtl="0">
              <a:lnSpc>
                <a:spcPct val="90000"/>
              </a:lnSpc>
              <a:spcBef>
                <a:spcPts val="1000"/>
              </a:spcBef>
              <a:spcAft>
                <a:spcPts val="0"/>
              </a:spcAft>
              <a:buClr>
                <a:schemeClr val="dk1"/>
              </a:buClr>
              <a:buSzPts val="2800"/>
              <a:buNone/>
            </a:pPr>
            <a:r>
              <a:rPr lang="es-DO" sz="1600" dirty="0"/>
              <a:t>2. Crear reglas especificas de firewall usando Net-</a:t>
            </a:r>
            <a:r>
              <a:rPr lang="es-DO" sz="1600" dirty="0" err="1"/>
              <a:t>NetFirewallRule</a:t>
            </a:r>
            <a:r>
              <a:rPr lang="es-DO" sz="1600" dirty="0"/>
              <a:t> para bloquear puertos y protocolos inseguros como SMB (Puerto 445) e ICMP.</a:t>
            </a:r>
            <a:endParaRPr sz="1600" dirty="0"/>
          </a:p>
          <a:p>
            <a:pPr marL="0" lvl="0" indent="0" algn="l" rtl="0">
              <a:lnSpc>
                <a:spcPct val="90000"/>
              </a:lnSpc>
              <a:spcBef>
                <a:spcPts val="1000"/>
              </a:spcBef>
              <a:spcAft>
                <a:spcPts val="0"/>
              </a:spcAft>
              <a:buClr>
                <a:schemeClr val="dk1"/>
              </a:buClr>
              <a:buSzPts val="2800"/>
              <a:buNone/>
            </a:pPr>
            <a:r>
              <a:rPr lang="es-DO" sz="1600" dirty="0"/>
              <a:t>3. Verificar conexiones activas y puertos en escucha usando </a:t>
            </a:r>
            <a:r>
              <a:rPr lang="es-DO" sz="1600" dirty="0" err="1"/>
              <a:t>Get-NetTCPConnection</a:t>
            </a:r>
            <a:r>
              <a:rPr lang="es-DO" sz="1600" dirty="0"/>
              <a:t> para auditar el estado de seguridad del sistema. </a:t>
            </a:r>
            <a:endParaRPr sz="1600" dirty="0"/>
          </a:p>
          <a:p>
            <a:pPr marL="0" lvl="0" indent="0" algn="l" rtl="0">
              <a:lnSpc>
                <a:spcPct val="90000"/>
              </a:lnSpc>
              <a:spcBef>
                <a:spcPts val="1000"/>
              </a:spcBef>
              <a:spcAft>
                <a:spcPts val="0"/>
              </a:spcAft>
              <a:buClr>
                <a:schemeClr val="dk1"/>
              </a:buClr>
              <a:buSzPts val="2800"/>
              <a:buNone/>
            </a:pPr>
            <a:r>
              <a:rPr lang="es-DO" sz="1600" dirty="0"/>
              <a:t>4. Habilitar el </a:t>
            </a:r>
            <a:r>
              <a:rPr lang="es-DO" sz="1600" dirty="0" err="1"/>
              <a:t>logging</a:t>
            </a:r>
            <a:r>
              <a:rPr lang="es-DO" sz="1600" dirty="0"/>
              <a:t> del firewall y realizar pruebas de conectividad para garantizar la correcta aplicación del hardening en </a:t>
            </a:r>
            <a:r>
              <a:rPr lang="es-DO" sz="1600" dirty="0" err="1"/>
              <a:t>Wind</a:t>
            </a:r>
            <a:r>
              <a:rPr lang="es-DO" sz="1600" dirty="0"/>
              <a:t> Telecom.</a:t>
            </a:r>
            <a:endParaRPr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g3db48d7b7b0_0_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s-DO" b="1"/>
              <a:t>Bibliografia</a:t>
            </a:r>
            <a:endParaRPr b="1"/>
          </a:p>
        </p:txBody>
      </p:sp>
      <p:sp>
        <p:nvSpPr>
          <p:cNvPr id="116" name="Google Shape;116;g3db48d7b7b0_0_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endParaRPr/>
          </a:p>
          <a:p>
            <a:pPr marL="514350" lvl="0" indent="-514350" algn="l" rtl="0">
              <a:lnSpc>
                <a:spcPct val="90000"/>
              </a:lnSpc>
              <a:spcBef>
                <a:spcPts val="1000"/>
              </a:spcBef>
              <a:spcAft>
                <a:spcPts val="0"/>
              </a:spcAft>
              <a:buClr>
                <a:schemeClr val="dk1"/>
              </a:buClr>
              <a:buSzPts val="2800"/>
              <a:buFont typeface="Calibri"/>
              <a:buChar char="•"/>
            </a:pPr>
            <a:r>
              <a:rPr lang="es-DO"/>
              <a:t>Blablabla</a:t>
            </a:r>
            <a:endParaRPr/>
          </a:p>
          <a:p>
            <a:pPr marL="514350" lvl="0" indent="-514350" algn="l" rtl="0">
              <a:lnSpc>
                <a:spcPct val="90000"/>
              </a:lnSpc>
              <a:spcBef>
                <a:spcPts val="1000"/>
              </a:spcBef>
              <a:spcAft>
                <a:spcPts val="0"/>
              </a:spcAft>
              <a:buClr>
                <a:schemeClr val="dk1"/>
              </a:buClr>
              <a:buSzPts val="2800"/>
              <a:buFont typeface="Calibri"/>
              <a:buChar char="•"/>
            </a:pPr>
            <a:r>
              <a:rPr lang="es-DO"/>
              <a:t>Mas blablablá</a:t>
            </a:r>
            <a:endParaRPr/>
          </a:p>
          <a:p>
            <a:pPr marL="514350" lvl="0" indent="-514350" algn="l" rtl="0">
              <a:lnSpc>
                <a:spcPct val="90000"/>
              </a:lnSpc>
              <a:spcBef>
                <a:spcPts val="1000"/>
              </a:spcBef>
              <a:spcAft>
                <a:spcPts val="0"/>
              </a:spcAft>
              <a:buClr>
                <a:schemeClr val="dk1"/>
              </a:buClr>
              <a:buSzPts val="2800"/>
              <a:buFont typeface="Calibri"/>
              <a:buChar char="•"/>
            </a:pPr>
            <a:r>
              <a:rPr lang="es-DO"/>
              <a:t>Otro blablablá</a:t>
            </a:r>
            <a:endParaRPr/>
          </a:p>
          <a:p>
            <a:pPr marL="514350" lvl="0" indent="-514350" algn="l" rtl="0">
              <a:lnSpc>
                <a:spcPct val="90000"/>
              </a:lnSpc>
              <a:spcBef>
                <a:spcPts val="1000"/>
              </a:spcBef>
              <a:spcAft>
                <a:spcPts val="0"/>
              </a:spcAft>
              <a:buClr>
                <a:schemeClr val="dk1"/>
              </a:buClr>
              <a:buSzPts val="2800"/>
              <a:buFont typeface="Calibri"/>
              <a:buChar char="•"/>
            </a:pPr>
            <a:r>
              <a:rPr lang="es-DO"/>
              <a:t>Etc.</a:t>
            </a:r>
            <a:endParaRPr/>
          </a:p>
        </p:txBody>
      </p:sp>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303</TotalTime>
  <Words>759</Words>
  <Application>Microsoft Office PowerPoint</Application>
  <PresentationFormat>Panorámica</PresentationFormat>
  <Paragraphs>48</Paragraphs>
  <Slides>18</Slides>
  <Notes>18</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18</vt:i4>
      </vt:variant>
    </vt:vector>
  </HeadingPairs>
  <TitlesOfParts>
    <vt:vector size="21" baseType="lpstr">
      <vt:lpstr>Arial</vt:lpstr>
      <vt:lpstr>Calibri</vt:lpstr>
      <vt:lpstr>Tema de Office</vt:lpstr>
      <vt:lpstr>Presentación de PowerPoint</vt:lpstr>
      <vt:lpstr>Desarrollo de la investigación/laboratorio</vt:lpstr>
      <vt:lpstr>Paso 1: Fase 1: Verificación inicial del sistema  Objetivo: Identificar la configuración actual de red y seguridad antes de aplicar hardening.</vt:lpstr>
      <vt:lpstr>Paso 1: Fase 1: Verificación inicial del sistema  Objetivo: Identificar la configuración actual de red y seguridad antes de aplicar hardening.</vt:lpstr>
      <vt:lpstr>Paso 1: Fase 1: Verificación inicial del sistema  Objetivo: Identificar la configuración actual de red y seguridad antes de aplicar hardening.</vt:lpstr>
      <vt:lpstr>Paso 1: Fase 1: Verificación inicial del sistema  Objetivo: Identificar la configuración actual de red y seguridad antes de aplicar hardening.</vt:lpstr>
      <vt:lpstr>Paso 2: Fase 2: Configuración del Firewall Objetivo: Fortalecer la seguridad del host mediante reglas restrictivas.</vt:lpstr>
      <vt:lpstr>Paso 3: Fase 3: Bloqueo de Servicios Inseguros  Objetivo: Reducir la exposición a ataques comunes como WannaCry,EternalBlue y movimiento lateral en la red de Wind Telecom.</vt:lpstr>
      <vt:lpstr>Paso 4: Fase 4: Protección de Interfaces y Wi-Fi Objetivo: Eliminar vectores de acceso innecesarios.</vt:lpstr>
      <vt:lpstr>Paso 5: Fase 5: Auditoria y Logging Objetivo: Registrar eventos del firewall para monitoreo y análisis de seguridad continuo.</vt:lpstr>
      <vt:lpstr>Paso 6: Fase 6: Verificación y Auditoria  Objetivo: Comprobar que las configuraciones fueron aplicadas correctamente.</vt:lpstr>
      <vt:lpstr>Paso 6: Fase 6: Verificación y Auditoria  Objetivo: Comprobar que las configuraciones fueron aplicadas correctamente.</vt:lpstr>
      <vt:lpstr>Paso 6: Fase 6: Verificación y Auditoria  Objetivo: Comprobar que las configuraciones fueron aplicadas correctamente.</vt:lpstr>
      <vt:lpstr>Paso 6: Fase 6: Verificación y Auditoria  Objetivo: Comprobar que las configuraciones fueron aplicadas correctamente.</vt:lpstr>
      <vt:lpstr>Paso 7: Fase 7: Prueba de Conectividad Objetivo: Validar el hardening aplicado mediante pruebas de red reales.</vt:lpstr>
      <vt:lpstr>Medidas a tomar para evitar la vulnerabilidad</vt:lpstr>
      <vt:lpstr>Resumen de lo aprendido</vt:lpstr>
      <vt:lpstr>Bibliografia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Administrator</dc:creator>
  <cp:lastModifiedBy>Angel Luis Matos Vasquez</cp:lastModifiedBy>
  <cp:revision>5</cp:revision>
  <dcterms:created xsi:type="dcterms:W3CDTF">2026-03-31T00:35:05Z</dcterms:created>
  <dcterms:modified xsi:type="dcterms:W3CDTF">2026-06-10T02:57:56Z</dcterms:modified>
</cp:coreProperties>
</file>